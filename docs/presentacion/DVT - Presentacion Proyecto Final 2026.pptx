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77734b22e743ad" /><Relationship Type="http://schemas.openxmlformats.org/officeDocument/2006/relationships/extended-properties" Target="/docProps/app.xml" Id="R51a06b1549454b22" /><Relationship Type="http://schemas.openxmlformats.org/officeDocument/2006/relationships/officeDocument" Target="/ppt/presentation.xml" Id="Rfc1dd640597341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a50d1eafa24656"/>
  </p:sldMasterIdLst>
  <p:notesMasterIdLst>
    <p:notesMasterId xmlns:r="http://schemas.openxmlformats.org/officeDocument/2006/relationships" r:id="Rd618013203374f6d"/>
  </p:notesMasterIdLst>
  <p:sldIdLst>
    <p:sldId xmlns:r="http://schemas.openxmlformats.org/officeDocument/2006/relationships" id="256" r:id="R44eeaaa9c1f147b1"/>
    <p:sldId xmlns:r="http://schemas.openxmlformats.org/officeDocument/2006/relationships" id="257" r:id="R453880ab4b11418c"/>
    <p:sldId xmlns:r="http://schemas.openxmlformats.org/officeDocument/2006/relationships" id="258" r:id="R2d8335b2d33d46f2"/>
    <p:sldId xmlns:r="http://schemas.openxmlformats.org/officeDocument/2006/relationships" id="259" r:id="R6c43a7eff9a54957"/>
    <p:sldId xmlns:r="http://schemas.openxmlformats.org/officeDocument/2006/relationships" id="260" r:id="R36c095fbf5a340e8"/>
    <p:sldId xmlns:r="http://schemas.openxmlformats.org/officeDocument/2006/relationships" id="261" r:id="R94dce07a3ff9408b"/>
    <p:sldId xmlns:r="http://schemas.openxmlformats.org/officeDocument/2006/relationships" id="262" r:id="R5c8a2977a28a4624"/>
    <p:sldId xmlns:r="http://schemas.openxmlformats.org/officeDocument/2006/relationships" id="263" r:id="R31477cf172824d2c"/>
    <p:sldId xmlns:r="http://schemas.openxmlformats.org/officeDocument/2006/relationships" id="264" r:id="R6a5bcf50c9174723"/>
    <p:sldId xmlns:r="http://schemas.openxmlformats.org/officeDocument/2006/relationships" id="265" r:id="R323de178e9b74b4e"/>
    <p:sldId xmlns:r="http://schemas.openxmlformats.org/officeDocument/2006/relationships" id="266" r:id="R26db869f7acb4933"/>
    <p:sldId xmlns:r="http://schemas.openxmlformats.org/officeDocument/2006/relationships" id="267" r:id="R6f8c8810746e4bfd"/>
    <p:sldId xmlns:r="http://schemas.openxmlformats.org/officeDocument/2006/relationships" id="268" r:id="Rd1bd0c761ada478f"/>
    <p:sldId xmlns:r="http://schemas.openxmlformats.org/officeDocument/2006/relationships" id="269" r:id="Ra8fa00ee43c74b28"/>
    <p:sldId xmlns:r="http://schemas.openxmlformats.org/officeDocument/2006/relationships" id="270" r:id="R5b2965649a2e44f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22d91ef1604e09" /><Relationship Type="http://schemas.openxmlformats.org/officeDocument/2006/relationships/slideMaster" Target="/ppt/slideMasters/slideMaster1.xml" Id="R53a50d1eafa24656" /><Relationship Type="http://schemas.openxmlformats.org/officeDocument/2006/relationships/notesMaster" Target="/ppt/notesMasters/notesMaster1.xml" Id="Rd618013203374f6d" /><Relationship Type="http://schemas.openxmlformats.org/officeDocument/2006/relationships/presProps" Target="/ppt/presProps.xml" Id="R3930c4be4f6f4110" /><Relationship Type="http://schemas.openxmlformats.org/officeDocument/2006/relationships/tableStyles" Target="/ppt/tableStyles.xml" Id="Rd34b07b51a7641e9" /><Relationship Type="http://schemas.openxmlformats.org/officeDocument/2006/relationships/slide" Target="/ppt/slides/slide1.xml" Id="R44eeaaa9c1f147b1" /><Relationship Type="http://schemas.openxmlformats.org/officeDocument/2006/relationships/slide" Target="/ppt/slides/slide2.xml" Id="R453880ab4b11418c" /><Relationship Type="http://schemas.openxmlformats.org/officeDocument/2006/relationships/slide" Target="/ppt/slides/slide3.xml" Id="R2d8335b2d33d46f2" /><Relationship Type="http://schemas.openxmlformats.org/officeDocument/2006/relationships/slide" Target="/ppt/slides/slide4.xml" Id="R6c43a7eff9a54957" /><Relationship Type="http://schemas.openxmlformats.org/officeDocument/2006/relationships/slide" Target="/ppt/slides/slide5.xml" Id="R36c095fbf5a340e8" /><Relationship Type="http://schemas.openxmlformats.org/officeDocument/2006/relationships/slide" Target="/ppt/slides/slide6.xml" Id="R94dce07a3ff9408b" /><Relationship Type="http://schemas.openxmlformats.org/officeDocument/2006/relationships/slide" Target="/ppt/slides/slide7.xml" Id="R5c8a2977a28a4624" /><Relationship Type="http://schemas.openxmlformats.org/officeDocument/2006/relationships/slide" Target="/ppt/slides/slide8.xml" Id="R31477cf172824d2c" /><Relationship Type="http://schemas.openxmlformats.org/officeDocument/2006/relationships/slide" Target="/ppt/slides/slide9.xml" Id="R6a5bcf50c9174723" /><Relationship Type="http://schemas.openxmlformats.org/officeDocument/2006/relationships/slide" Target="/ppt/slides/slide10.xml" Id="R323de178e9b74b4e" /><Relationship Type="http://schemas.openxmlformats.org/officeDocument/2006/relationships/slide" Target="/ppt/slides/slide11.xml" Id="R26db869f7acb4933" /><Relationship Type="http://schemas.openxmlformats.org/officeDocument/2006/relationships/slide" Target="/ppt/slides/slide12.xml" Id="R6f8c8810746e4bfd" /><Relationship Type="http://schemas.openxmlformats.org/officeDocument/2006/relationships/slide" Target="/ppt/slides/slide13.xml" Id="Rd1bd0c761ada478f" /><Relationship Type="http://schemas.openxmlformats.org/officeDocument/2006/relationships/slide" Target="/ppt/slides/slide14.xml" Id="Ra8fa00ee43c74b28" /><Relationship Type="http://schemas.openxmlformats.org/officeDocument/2006/relationships/slide" Target="/ppt/slides/slide15.xml" Id="R5b2965649a2e44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94a98af49343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8a72a2902d48b0" /><Relationship Type="http://schemas.openxmlformats.org/officeDocument/2006/relationships/notesMaster" Target="/ppt/notesMasters/notesMaster1.xml" Id="R2cce7e2a0b1848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3738d760e54597" /><Relationship Type="http://schemas.openxmlformats.org/officeDocument/2006/relationships/notesMaster" Target="/ppt/notesMasters/notesMaster1.xml" Id="R073ad3a94a8346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ba144486294950" /><Relationship Type="http://schemas.openxmlformats.org/officeDocument/2006/relationships/notesMaster" Target="/ppt/notesMasters/notesMaster1.xml" Id="Rec0d446b43704b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83a8b6ad3e4b3e" /><Relationship Type="http://schemas.openxmlformats.org/officeDocument/2006/relationships/notesMaster" Target="/ppt/notesMasters/notesMaster1.xml" Id="R2a7d0673ee814f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ea337cf1d54bcc" /><Relationship Type="http://schemas.openxmlformats.org/officeDocument/2006/relationships/notesMaster" Target="/ppt/notesMasters/notesMaster1.xml" Id="Rb8159b88ea9e46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98a847e84e4cac" /><Relationship Type="http://schemas.openxmlformats.org/officeDocument/2006/relationships/notesMaster" Target="/ppt/notesMasters/notesMaster1.xml" Id="R44e47b3322e242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4195f70a4a45ea" /><Relationship Type="http://schemas.openxmlformats.org/officeDocument/2006/relationships/notesMaster" Target="/ppt/notesMasters/notesMaster1.xml" Id="R19ed14c4d8cb41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6ae9583b594c1e" /><Relationship Type="http://schemas.openxmlformats.org/officeDocument/2006/relationships/notesMaster" Target="/ppt/notesMasters/notesMaster1.xml" Id="R72235ae6377841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27ed352dff48ec" /><Relationship Type="http://schemas.openxmlformats.org/officeDocument/2006/relationships/notesMaster" Target="/ppt/notesMasters/notesMaster1.xml" Id="R932ad4c8a96442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f7725f6320497e" /><Relationship Type="http://schemas.openxmlformats.org/officeDocument/2006/relationships/notesMaster" Target="/ppt/notesMasters/notesMaster1.xml" Id="R6d898307949e4c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41cb1b48114272" /><Relationship Type="http://schemas.openxmlformats.org/officeDocument/2006/relationships/notesMaster" Target="/ppt/notesMasters/notesMaster1.xml" Id="R959c70d8747e46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50cc63dea44f00" /><Relationship Type="http://schemas.openxmlformats.org/officeDocument/2006/relationships/notesMaster" Target="/ppt/notesMasters/notesMaster1.xml" Id="R954909fd3d474b1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9fb9bd5f794cae" /><Relationship Type="http://schemas.openxmlformats.org/officeDocument/2006/relationships/notesMaster" Target="/ppt/notesMasters/notesMaster1.xml" Id="Rad4e8081d3b94b0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ce777ee6ac49c7" /><Relationship Type="http://schemas.openxmlformats.org/officeDocument/2006/relationships/notesMaster" Target="/ppt/notesMasters/notesMaster1.xml" Id="Rfff1f0df962340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a19f89adbe4627" /><Relationship Type="http://schemas.openxmlformats.org/officeDocument/2006/relationships/notesMaster" Target="/ppt/notesMasters/notesMaster1.xml" Id="Rfe98b6762c4447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950cf4f3c147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eacf034e2e4003" /><Relationship Type="http://schemas.openxmlformats.org/officeDocument/2006/relationships/slideLayout" Target="/ppt/slideLayouts/slideLayout1.xml" Id="Reb8cfa5db89840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8cfa5db89840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116c3c69e487e" /><Relationship Type="http://schemas.openxmlformats.org/officeDocument/2006/relationships/notesSlide" Target="/ppt/notesSlides/notesSlide1.xml" Id="Rdea71081eb794c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b7c3d9ad946d0" /><Relationship Type="http://schemas.openxmlformats.org/officeDocument/2006/relationships/notesSlide" Target="/ppt/notesSlides/notesSlide2.xml" Id="R70a60083b1d64e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7b352fa3e473a" /><Relationship Type="http://schemas.openxmlformats.org/officeDocument/2006/relationships/notesSlide" Target="/ppt/notesSlides/notesSlide3.xml" Id="R4e938858fa4144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89018a8904124" /><Relationship Type="http://schemas.openxmlformats.org/officeDocument/2006/relationships/notesSlide" Target="/ppt/notesSlides/notesSlide4.xml" Id="Re1020054c5a945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c4486f4534c1c" /><Relationship Type="http://schemas.openxmlformats.org/officeDocument/2006/relationships/notesSlide" Target="/ppt/notesSlides/notesSlide5.xml" Id="R177ca844382b41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0ce82dca94202" /><Relationship Type="http://schemas.openxmlformats.org/officeDocument/2006/relationships/notesSlide" Target="/ppt/notesSlides/notesSlide6.xml" Id="Red8e6fa746224a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5352579b34034" /><Relationship Type="http://schemas.openxmlformats.org/officeDocument/2006/relationships/notesSlide" Target="/ppt/notesSlides/notesSlide7.xml" Id="Rf7696781966c43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6fae8f79f42d9" /><Relationship Type="http://schemas.openxmlformats.org/officeDocument/2006/relationships/notesSlide" Target="/ppt/notesSlides/notesSlide8.xml" Id="Rbc1de461159743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de17cbb6d4926" /><Relationship Type="http://schemas.openxmlformats.org/officeDocument/2006/relationships/notesSlide" Target="/ppt/notesSlides/notesSlide9.xml" Id="Rc37a7de2cdb746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9008c904a4de8" /><Relationship Type="http://schemas.openxmlformats.org/officeDocument/2006/relationships/notesSlide" Target="/ppt/notesSlides/notesSlide10.xml" Id="Raea2901edf614d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4cf98cb944c0b" /><Relationship Type="http://schemas.openxmlformats.org/officeDocument/2006/relationships/notesSlide" Target="/ppt/notesSlides/notesSlide11.xml" Id="R72db7257486344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e575fa0fb4fde" /><Relationship Type="http://schemas.openxmlformats.org/officeDocument/2006/relationships/notesSlide" Target="/ppt/notesSlides/notesSlide12.xml" Id="R8b82c67877ae41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32e79ebc5402f" /><Relationship Type="http://schemas.openxmlformats.org/officeDocument/2006/relationships/notesSlide" Target="/ppt/notesSlides/notesSlide13.xml" Id="Rc03660b69c6143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a2bed034546cf" /><Relationship Type="http://schemas.openxmlformats.org/officeDocument/2006/relationships/notesSlide" Target="/ppt/notesSlides/notesSlide14.xml" Id="R20385449f8c94f3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ca0bd364b48d8" /><Relationship Type="http://schemas.openxmlformats.org/officeDocument/2006/relationships/notesSlide" Target="/ppt/notesSlides/notesSlide15.xml" Id="R0ae7fce5f53143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8260BA6-7C22-462A-A422-23F0DBEE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695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INSTITUTO DE FORMACIÓN TÉCNICA SUPERIOR 24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1CE3BC7-2A34-4255-B3C3-B3CCE713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8191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DVT — Software</a:t>
            </a:r>
          </a:p>
          <a:p xmlns:a="http://schemas.openxmlformats.org/drawingml/2006/main">
            <a:pPr algn="l">
              <a:defRPr sz="4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 Gestión Hotelera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E25AF55-30A5-4AD8-9178-64A71A4C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37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Proyecto Final Integrador · Tecnicatura Superior en Desarrollo de Software</a:t>
            </a:r>
          </a:p>
        </p:txBody>
      </p:sp>
      <p:cxnSp>
        <p:nvCxnSpPr>
          <p:cNvPr id="12" name="cover-rule"/>
          <p:cNvCxnSpPr/>
          <p:nvPr/>
        </p:nvCxnSpPr>
        <p:spPr>
          <a:xfrm xmlns:a="http://schemas.openxmlformats.org/drawingml/2006/main">
            <a:off x="552450" y="4514850"/>
            <a:ext cx="6858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4C81"/>
            </a:solidFill>
            <a:prstDash val="solid"/>
          </a:ln>
        </p:spPr>
      </p:cxnSp>
      <p:sp>
        <p:nvSpPr>
          <p:cNvPr id="5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D668D803-B737-4E6A-9591-A07AC23C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Iván Federico Ibarra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Tutor: Ing. Julio Cesar Leppen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6" name="cover-mark">
            <a:extLst xmlns:a="http://schemas.openxmlformats.org/drawingml/2006/main">
              <a:ext uri="{FF2B5EF4-FFF2-40B4-BE49-F238E27FC236}">
                <a16:creationId xmlns:a16="http://schemas.microsoft.com/office/drawing/2014/main" id="{FA25686B-CDEB-4DD1-9FAB-CCD6F61B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09700"/>
            <a:ext cx="2000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D9EAF7"/>
            </a:solidFill>
            <a:prstDash val="solid"/>
          </a:ln>
        </p:spPr>
      </p:sp>
      <p:sp>
        <p:nvSpPr>
          <p:cNvPr id="7" name="cover-mark-text">
            <a:extLst xmlns:a="http://schemas.openxmlformats.org/drawingml/2006/main">
              <a:ext uri="{FF2B5EF4-FFF2-40B4-BE49-F238E27FC236}">
                <a16:creationId xmlns:a16="http://schemas.microsoft.com/office/drawing/2014/main" id="{FD6950A5-FDAA-4D0A-A8FE-E9EF0781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52625"/>
            <a:ext cx="1543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DVT</a:t>
            </a:r>
          </a:p>
        </p:txBody>
      </p:sp>
      <p:sp>
        <p:nvSpPr>
          <p:cNvPr id="8" name="cover-mark-caption">
            <a:extLst xmlns:a="http://schemas.openxmlformats.org/drawingml/2006/main">
              <a:ext uri="{FF2B5EF4-FFF2-40B4-BE49-F238E27FC236}">
                <a16:creationId xmlns:a16="http://schemas.microsoft.com/office/drawing/2014/main" id="{80AD30E4-67C5-421E-8B64-D8513A54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432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Gestión hotelera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inteligente</a:t>
            </a:r>
          </a:p>
        </p:txBody>
      </p:sp>
    </p:spTree>
    <p:extLst>
      <p:ext uri="{BB962C8B-B14F-4D97-AF65-F5344CB8AC3E}">
        <p14:creationId xmlns:p14="http://schemas.microsoft.com/office/powerpoint/2010/main" val="5777582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2">
            <a:extLst xmlns:a="http://schemas.openxmlformats.org/drawingml/2006/main">
              <a:ext uri="{FF2B5EF4-FFF2-40B4-BE49-F238E27FC236}">
                <a16:creationId xmlns:a16="http://schemas.microsoft.com/office/drawing/2014/main" id="{5829F522-8392-43D9-B99B-5FBF501C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DVT · PROYECTO FINAL INTEGRADOR</a:t>
            </a:r>
          </a:p>
        </p:txBody>
      </p:sp>
      <p:cxnSp>
        <p:nvCxnSpPr>
          <p:cNvPr id="20" name="top-rule-2"/>
          <p:cNvCxnSpPr/>
          <p:nvPr/>
        </p:nvCxnSpPr>
        <p:spPr>
          <a:xfrm xmlns:a="http://schemas.openxmlformats.org/drawingml/2006/main">
            <a:off x="533400" y="6858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5A187F46-CD0F-4130-92F5-9E5A0B10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19C4637F-22B7-4C55-B03C-B8AF6F0A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 recepción necesita una única fuente de información</a:t>
            </a:r>
          </a:p>
        </p:txBody>
      </p:sp>
      <p:sp>
        <p:nvSpPr>
          <p:cNvPr id="5" name="subtitle-2">
            <a:extLst xmlns:a="http://schemas.openxmlformats.org/drawingml/2006/main">
              <a:ext uri="{FF2B5EF4-FFF2-40B4-BE49-F238E27FC236}">
                <a16:creationId xmlns:a16="http://schemas.microsoft.com/office/drawing/2014/main" id="{8FCD0F34-0F3E-462B-89DC-9D418886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Reservas, huéspedes, consumos y pagos deben conservar su relación operativa.</a:t>
            </a:r>
          </a:p>
        </p:txBody>
      </p:sp>
      <p:sp>
        <p:nvSpPr>
          <p:cNvPr id="6" name="problem-a-frame">
            <a:extLst xmlns:a="http://schemas.openxmlformats.org/drawingml/2006/main">
              <a:ext uri="{FF2B5EF4-FFF2-40B4-BE49-F238E27FC236}">
                <a16:creationId xmlns:a16="http://schemas.microsoft.com/office/drawing/2014/main" id="{C277D77B-8856-40D8-A403-34C948B0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31908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problem-a-accent">
            <a:extLst xmlns:a="http://schemas.openxmlformats.org/drawingml/2006/main">
              <a:ext uri="{FF2B5EF4-FFF2-40B4-BE49-F238E27FC236}">
                <a16:creationId xmlns:a16="http://schemas.microsoft.com/office/drawing/2014/main" id="{9FC7B905-0954-4D72-A2E6-301FA0E0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F3"/>
          </a:solidFill>
          <a:ln xmlns:a="http://schemas.openxmlformats.org/drawingml/2006/main" w="0">
            <a:solidFill>
              <a:srgbClr val="FCE7F3"/>
            </a:solidFill>
            <a:prstDash val="solid"/>
          </a:ln>
        </p:spPr>
      </p:sp>
      <p:sp>
        <p:nvSpPr>
          <p:cNvPr id="8" name="problem-a-heading">
            <a:extLst xmlns:a="http://schemas.openxmlformats.org/drawingml/2006/main">
              <a:ext uri="{FF2B5EF4-FFF2-40B4-BE49-F238E27FC236}">
                <a16:creationId xmlns:a16="http://schemas.microsoft.com/office/drawing/2014/main" id="{F5DD149D-51CA-42B7-B856-316F253E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2733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Registro disperso</a:t>
            </a:r>
          </a:p>
        </p:txBody>
      </p:sp>
      <p:sp>
        <p:nvSpPr>
          <p:cNvPr id="9" name="problem-a-body">
            <a:extLst xmlns:a="http://schemas.openxmlformats.org/drawingml/2006/main">
              <a:ext uri="{FF2B5EF4-FFF2-40B4-BE49-F238E27FC236}">
                <a16:creationId xmlns:a16="http://schemas.microsoft.com/office/drawing/2014/main" id="{851C037A-B13F-415B-9A38-5A4D4D84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27336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Los datos se reparten entre papeles, planillas o mensajes y se vuelven difíciles de consultar.</a:t>
            </a:r>
          </a:p>
        </p:txBody>
      </p:sp>
      <p:sp>
        <p:nvSpPr>
          <p:cNvPr id="10" name="problem-b-frame">
            <a:extLst xmlns:a="http://schemas.openxmlformats.org/drawingml/2006/main">
              <a:ext uri="{FF2B5EF4-FFF2-40B4-BE49-F238E27FC236}">
                <a16:creationId xmlns:a16="http://schemas.microsoft.com/office/drawing/2014/main" id="{8741162E-F8A1-437E-9590-0925DF9B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31908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problem-b-accent">
            <a:extLst xmlns:a="http://schemas.openxmlformats.org/drawingml/2006/main">
              <a:ext uri="{FF2B5EF4-FFF2-40B4-BE49-F238E27FC236}">
                <a16:creationId xmlns:a16="http://schemas.microsoft.com/office/drawing/2014/main" id="{D8C67942-837D-455A-8646-C9655A0D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solidFill>
              <a:srgbClr val="FFF2CC"/>
            </a:solidFill>
            <a:prstDash val="solid"/>
          </a:ln>
        </p:spPr>
      </p:sp>
      <p:sp>
        <p:nvSpPr>
          <p:cNvPr id="12" name="problem-b-heading">
            <a:extLst xmlns:a="http://schemas.openxmlformats.org/drawingml/2006/main">
              <a:ext uri="{FF2B5EF4-FFF2-40B4-BE49-F238E27FC236}">
                <a16:creationId xmlns:a16="http://schemas.microsoft.com/office/drawing/2014/main" id="{1344E7D0-86C9-4D18-BF8D-A9E2AAA7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19400"/>
            <a:ext cx="2733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Decisiones tardías</a:t>
            </a:r>
          </a:p>
        </p:txBody>
      </p:sp>
      <p:sp>
        <p:nvSpPr>
          <p:cNvPr id="13" name="problem-b-body">
            <a:extLst xmlns:a="http://schemas.openxmlformats.org/drawingml/2006/main">
              <a:ext uri="{FF2B5EF4-FFF2-40B4-BE49-F238E27FC236}">
                <a16:creationId xmlns:a16="http://schemas.microsoft.com/office/drawing/2014/main" id="{013B86C8-1422-49D6-90F3-B1A3DB3F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14700"/>
            <a:ext cx="27336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Sin disponibilidad centralizada pueden aparecer solapamientos o estados desactualizados.</a:t>
            </a:r>
          </a:p>
        </p:txBody>
      </p:sp>
      <p:sp>
        <p:nvSpPr>
          <p:cNvPr id="14" name="problem-c-frame">
            <a:extLst xmlns:a="http://schemas.openxmlformats.org/drawingml/2006/main">
              <a:ext uri="{FF2B5EF4-FFF2-40B4-BE49-F238E27FC236}">
                <a16:creationId xmlns:a16="http://schemas.microsoft.com/office/drawing/2014/main" id="{FCFFB67D-B0AA-48E9-930F-C92B8EEC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1750"/>
            <a:ext cx="31908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problem-c-accent">
            <a:extLst xmlns:a="http://schemas.openxmlformats.org/drawingml/2006/main">
              <a:ext uri="{FF2B5EF4-FFF2-40B4-BE49-F238E27FC236}">
                <a16:creationId xmlns:a16="http://schemas.microsoft.com/office/drawing/2014/main" id="{EFD36064-73CF-4AFA-BFD3-E7E1E647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17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8"/>
          </a:solidFill>
          <a:ln xmlns:a="http://schemas.openxmlformats.org/drawingml/2006/main" w="0">
            <a:solidFill>
              <a:srgbClr val="DDF4E8"/>
            </a:solidFill>
            <a:prstDash val="solid"/>
          </a:ln>
        </p:spPr>
      </p:sp>
      <p:sp>
        <p:nvSpPr>
          <p:cNvPr id="16" name="problem-c-heading">
            <a:extLst xmlns:a="http://schemas.openxmlformats.org/drawingml/2006/main">
              <a:ext uri="{FF2B5EF4-FFF2-40B4-BE49-F238E27FC236}">
                <a16:creationId xmlns:a16="http://schemas.microsoft.com/office/drawing/2014/main" id="{B15A651F-4CB6-439B-8215-2710F760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19400"/>
            <a:ext cx="2733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Poca trazabilidad</a:t>
            </a:r>
          </a:p>
        </p:txBody>
      </p:sp>
      <p:sp>
        <p:nvSpPr>
          <p:cNvPr id="17" name="problem-c-body">
            <a:extLst xmlns:a="http://schemas.openxmlformats.org/drawingml/2006/main">
              <a:ext uri="{FF2B5EF4-FFF2-40B4-BE49-F238E27FC236}">
                <a16:creationId xmlns:a16="http://schemas.microsoft.com/office/drawing/2014/main" id="{FC2A99F5-03F4-4D7E-B3FD-2120473E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14700"/>
            <a:ext cx="27336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Un reclamo exige reconstruir qué se consumió, qué se incluyó en la cuenta y qué se pagó.</a:t>
            </a:r>
          </a:p>
        </p:txBody>
      </p:sp>
      <p:sp>
        <p:nvSpPr>
          <p:cNvPr id="18" name="problem-close">
            <a:extLst xmlns:a="http://schemas.openxmlformats.org/drawingml/2006/main">
              <a:ext uri="{FF2B5EF4-FFF2-40B4-BE49-F238E27FC236}">
                <a16:creationId xmlns:a16="http://schemas.microsoft.com/office/drawing/2014/main" id="{24CC0FC6-C75E-49D6-AC6D-4BAA6E48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6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DVT organiza esos eventos en una aplicación web con reglas de negocio verificables.</a:t>
            </a:r>
          </a:p>
        </p:txBody>
      </p:sp>
    </p:spTree>
    <p:extLst>
      <p:ext uri="{BB962C8B-B14F-4D97-AF65-F5344CB8AC3E}">
        <p14:creationId xmlns:p14="http://schemas.microsoft.com/office/powerpoint/2010/main" val="6111311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3">
            <a:extLst xmlns:a="http://schemas.openxmlformats.org/drawingml/2006/main">
              <a:ext uri="{FF2B5EF4-FFF2-40B4-BE49-F238E27FC236}">
                <a16:creationId xmlns:a16="http://schemas.microsoft.com/office/drawing/2014/main" id="{2AF188E4-E96D-4FB1-85DA-FDC3E05C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DVT · PROYECTO FINAL INTEGRADOR</a:t>
            </a:r>
          </a:p>
        </p:txBody>
      </p:sp>
      <p:cxnSp>
        <p:nvCxnSpPr>
          <p:cNvPr id="20" name="top-rule-3"/>
          <p:cNvCxnSpPr/>
          <p:nvPr/>
        </p:nvCxnSpPr>
        <p:spPr>
          <a:xfrm xmlns:a="http://schemas.openxmlformats.org/drawingml/2006/main">
            <a:off x="533400" y="6858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EF2243C9-BFEF-478C-8D08-4817AF0E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42CF05DA-AE94-434D-AD05-124F73DA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8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El proyecto concentra la operación diaria del alojamiento</a:t>
            </a:r>
          </a:p>
        </p:txBody>
      </p:sp>
      <p:sp>
        <p:nvSpPr>
          <p:cNvPr id="5" name="subtitle-3">
            <a:extLst xmlns:a="http://schemas.openxmlformats.org/drawingml/2006/main">
              <a:ext uri="{FF2B5EF4-FFF2-40B4-BE49-F238E27FC236}">
                <a16:creationId xmlns:a16="http://schemas.microsoft.com/office/drawing/2014/main" id="{25AA5EEA-2B40-4CC8-98E5-1C6B793D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El alcance se definió para resolver flujos internos antes que integrar servicios externos.</a:t>
            </a:r>
          </a:p>
        </p:txBody>
      </p:sp>
      <p:sp>
        <p:nvSpPr>
          <p:cNvPr id="6" name="scope-1-box">
            <a:extLst xmlns:a="http://schemas.openxmlformats.org/drawingml/2006/main">
              <a:ext uri="{FF2B5EF4-FFF2-40B4-BE49-F238E27FC236}">
                <a16:creationId xmlns:a16="http://schemas.microsoft.com/office/drawing/2014/main" id="{51B2FB77-D5CD-4E47-860E-9E2E0F3E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D9EAF7"/>
            </a:solidFill>
            <a:prstDash val="solid"/>
          </a:ln>
        </p:spPr>
      </p:sp>
      <p:sp>
        <p:nvSpPr>
          <p:cNvPr id="7" name="scope-1-number">
            <a:extLst xmlns:a="http://schemas.openxmlformats.org/drawingml/2006/main">
              <a:ext uri="{FF2B5EF4-FFF2-40B4-BE49-F238E27FC236}">
                <a16:creationId xmlns:a16="http://schemas.microsoft.com/office/drawing/2014/main" id="{F0BEF67F-CE3A-408F-897B-ADEA9D54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scope-1-detail">
            <a:extLst xmlns:a="http://schemas.openxmlformats.org/drawingml/2006/main">
              <a:ext uri="{FF2B5EF4-FFF2-40B4-BE49-F238E27FC236}">
                <a16:creationId xmlns:a16="http://schemas.microsoft.com/office/drawing/2014/main" id="{229914A1-DE68-4E11-98BA-6A7335B5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Gestionar habitaciones y huéspedes</a:t>
            </a:r>
          </a:p>
        </p:txBody>
      </p:sp>
      <p:sp>
        <p:nvSpPr>
          <p:cNvPr id="9" name="scope-2-box">
            <a:extLst xmlns:a="http://schemas.openxmlformats.org/drawingml/2006/main">
              <a:ext uri="{FF2B5EF4-FFF2-40B4-BE49-F238E27FC236}">
                <a16:creationId xmlns:a16="http://schemas.microsoft.com/office/drawing/2014/main" id="{F5E4EF03-BC84-48BD-B314-0F2056BF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4E8"/>
          </a:solidFill>
          <a:ln xmlns:a="http://schemas.openxmlformats.org/drawingml/2006/main" w="9525">
            <a:solidFill>
              <a:srgbClr val="DDF4E8"/>
            </a:solidFill>
            <a:prstDash val="solid"/>
          </a:ln>
        </p:spPr>
      </p:sp>
      <p:sp>
        <p:nvSpPr>
          <p:cNvPr id="10" name="scope-2-number">
            <a:extLst xmlns:a="http://schemas.openxmlformats.org/drawingml/2006/main">
              <a:ext uri="{FF2B5EF4-FFF2-40B4-BE49-F238E27FC236}">
                <a16:creationId xmlns:a16="http://schemas.microsoft.com/office/drawing/2014/main" id="{4D136128-DF77-43E5-A93C-669B304D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813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scope-2-detail">
            <a:extLst xmlns:a="http://schemas.openxmlformats.org/drawingml/2006/main">
              <a:ext uri="{FF2B5EF4-FFF2-40B4-BE49-F238E27FC236}">
                <a16:creationId xmlns:a16="http://schemas.microsoft.com/office/drawing/2014/main" id="{4540725D-9A0B-4CBD-BBE2-DFF81290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7660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Operar reservas y disponibilidad</a:t>
            </a:r>
          </a:p>
        </p:txBody>
      </p:sp>
      <p:sp>
        <p:nvSpPr>
          <p:cNvPr id="12" name="scope-3-box">
            <a:extLst xmlns:a="http://schemas.openxmlformats.org/drawingml/2006/main">
              <a:ext uri="{FF2B5EF4-FFF2-40B4-BE49-F238E27FC236}">
                <a16:creationId xmlns:a16="http://schemas.microsoft.com/office/drawing/2014/main" id="{FA88CA88-9DBF-4540-8D01-15A615ED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FFF2CC"/>
            </a:solidFill>
            <a:prstDash val="solid"/>
          </a:ln>
        </p:spPr>
      </p:sp>
      <p:sp>
        <p:nvSpPr>
          <p:cNvPr id="13" name="scope-3-number">
            <a:extLst xmlns:a="http://schemas.openxmlformats.org/drawingml/2006/main">
              <a:ext uri="{FF2B5EF4-FFF2-40B4-BE49-F238E27FC236}">
                <a16:creationId xmlns:a16="http://schemas.microsoft.com/office/drawing/2014/main" id="{3D656D96-CB9B-48DE-8604-B0C10919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scope-3-detail">
            <a:extLst xmlns:a="http://schemas.openxmlformats.org/drawingml/2006/main">
              <a:ext uri="{FF2B5EF4-FFF2-40B4-BE49-F238E27FC236}">
                <a16:creationId xmlns:a16="http://schemas.microsoft.com/office/drawing/2014/main" id="{EF810630-A8AF-4A87-96DA-5018823B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Registrar consumos y pagos</a:t>
            </a:r>
          </a:p>
        </p:txBody>
      </p:sp>
      <p:sp>
        <p:nvSpPr>
          <p:cNvPr id="15" name="scope-4-box">
            <a:extLst xmlns:a="http://schemas.openxmlformats.org/drawingml/2006/main">
              <a:ext uri="{FF2B5EF4-FFF2-40B4-BE49-F238E27FC236}">
                <a16:creationId xmlns:a16="http://schemas.microsoft.com/office/drawing/2014/main" id="{328AB943-6E98-44D6-A27C-7A8C1A56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9525">
            <a:solidFill>
              <a:srgbClr val="FCE7F3"/>
            </a:solidFill>
            <a:prstDash val="solid"/>
          </a:ln>
        </p:spPr>
      </p:sp>
      <p:sp>
        <p:nvSpPr>
          <p:cNvPr id="16" name="scope-4-number">
            <a:extLst xmlns:a="http://schemas.openxmlformats.org/drawingml/2006/main">
              <a:ext uri="{FF2B5EF4-FFF2-40B4-BE49-F238E27FC236}">
                <a16:creationId xmlns:a16="http://schemas.microsoft.com/office/drawing/2014/main" id="{C9CD49EC-3C2B-404E-BC47-357F6599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scope-4-detail">
            <a:extLst xmlns:a="http://schemas.openxmlformats.org/drawingml/2006/main">
              <a:ext uri="{FF2B5EF4-FFF2-40B4-BE49-F238E27FC236}">
                <a16:creationId xmlns:a16="http://schemas.microsoft.com/office/drawing/2014/main" id="{2780B8C3-F503-4235-A326-07B215C8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Aplicar roles y trazabilidad</a:t>
            </a:r>
          </a:p>
        </p:txBody>
      </p:sp>
      <p:sp>
        <p:nvSpPr>
          <p:cNvPr id="18" name="scope-note">
            <a:extLst xmlns:a="http://schemas.openxmlformats.org/drawingml/2006/main">
              <a:ext uri="{FF2B5EF4-FFF2-40B4-BE49-F238E27FC236}">
                <a16:creationId xmlns:a16="http://schemas.microsoft.com/office/drawing/2014/main" id="{B6AACA65-EE85-443E-8460-FB93D828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No se incluye pasarela de pago, facturación fiscal ni motor de reservas público: son extensiones futuras.</a:t>
            </a:r>
          </a:p>
        </p:txBody>
      </p:sp>
    </p:spTree>
    <p:extLst>
      <p:ext uri="{BB962C8B-B14F-4D97-AF65-F5344CB8AC3E}">
        <p14:creationId xmlns:p14="http://schemas.microsoft.com/office/powerpoint/2010/main" val="2128655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4">
            <a:extLst xmlns:a="http://schemas.openxmlformats.org/drawingml/2006/main">
              <a:ext uri="{FF2B5EF4-FFF2-40B4-BE49-F238E27FC236}">
                <a16:creationId xmlns:a16="http://schemas.microsoft.com/office/drawing/2014/main" id="{1392829F-7C77-4D4D-A4C0-28DA257D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DVT · PROYECTO FINAL INTEGRADOR</a:t>
            </a:r>
          </a:p>
        </p:txBody>
      </p:sp>
      <p:cxnSp>
        <p:nvCxnSpPr>
          <p:cNvPr id="19" name="top-rule-4"/>
          <p:cNvCxnSpPr/>
          <p:nvPr/>
        </p:nvCxnSpPr>
        <p:spPr>
          <a:xfrm xmlns:a="http://schemas.openxmlformats.org/drawingml/2006/main">
            <a:off x="533400" y="6858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DC53C29A-4FE8-44EE-BFAA-DEF4ACE7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45C73B0C-422E-4AD8-9872-BDA7A558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Una landing pública deriva hacia una aplicación interna</a:t>
            </a:r>
          </a:p>
        </p:txBody>
      </p:sp>
      <p:sp>
        <p:nvSpPr>
          <p:cNvPr id="5" name="subtitle-4">
            <a:extLst xmlns:a="http://schemas.openxmlformats.org/drawingml/2006/main">
              <a:ext uri="{FF2B5EF4-FFF2-40B4-BE49-F238E27FC236}">
                <a16:creationId xmlns:a16="http://schemas.microsoft.com/office/drawing/2014/main" id="{729AE5EF-0154-4604-834C-6EA4C38F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Ambas experiencias se sirven desde el mismo despliegue, pero cumplen objetivos distintos.</a:t>
            </a:r>
          </a:p>
        </p:txBody>
      </p:sp>
      <p:sp>
        <p:nvSpPr>
          <p:cNvPr id="6" name="landing-surface">
            <a:extLst xmlns:a="http://schemas.openxmlformats.org/drawingml/2006/main">
              <a:ext uri="{FF2B5EF4-FFF2-40B4-BE49-F238E27FC236}">
                <a16:creationId xmlns:a16="http://schemas.microsoft.com/office/drawing/2014/main" id="{6BF04D36-4730-4B4A-A985-2753DAD0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485775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D9EAF7"/>
            </a:solidFill>
            <a:prstDash val="solid"/>
          </a:ln>
        </p:spPr>
      </p:sp>
      <p:sp>
        <p:nvSpPr>
          <p:cNvPr id="7" name="landing-title">
            <a:extLst xmlns:a="http://schemas.openxmlformats.org/drawingml/2006/main">
              <a:ext uri="{FF2B5EF4-FFF2-40B4-BE49-F238E27FC236}">
                <a16:creationId xmlns:a16="http://schemas.microsoft.com/office/drawing/2014/main" id="{2341A57C-5353-41CE-8765-DD5AE9A5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Sitio comercial</a:t>
            </a:r>
          </a:p>
        </p:txBody>
      </p:sp>
      <p:sp>
        <p:nvSpPr>
          <p:cNvPr id="8" name="landing-body">
            <a:extLst xmlns:a="http://schemas.openxmlformats.org/drawingml/2006/main">
              <a:ext uri="{FF2B5EF4-FFF2-40B4-BE49-F238E27FC236}">
                <a16:creationId xmlns:a16="http://schemas.microsoft.com/office/drawing/2014/main" id="{FC8F07EA-D616-4E8F-8C72-1EBD703E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08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Presenta la propuesta de valor, los módulos y el acceso rápido a la plataforma.</a:t>
            </a:r>
          </a:p>
        </p:txBody>
      </p:sp>
      <p:sp>
        <p:nvSpPr>
          <p:cNvPr id="9" name="landing-path-box">
            <a:extLst xmlns:a="http://schemas.openxmlformats.org/drawingml/2006/main">
              <a:ext uri="{FF2B5EF4-FFF2-40B4-BE49-F238E27FC236}">
                <a16:creationId xmlns:a16="http://schemas.microsoft.com/office/drawing/2014/main" id="{13E67FD9-4770-4CAB-8A35-A9F3FFBF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742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D9EAF7"/>
            </a:solidFill>
            <a:prstDash val="solid"/>
          </a:ln>
        </p:spPr>
      </p:sp>
      <p:sp>
        <p:nvSpPr>
          <p:cNvPr id="10" name="landing-path-text">
            <a:extLst xmlns:a="http://schemas.openxmlformats.org/drawingml/2006/main">
              <a:ext uri="{FF2B5EF4-FFF2-40B4-BE49-F238E27FC236}">
                <a16:creationId xmlns:a16="http://schemas.microsoft.com/office/drawing/2014/main" id="{A24D685A-1467-4365-BEF7-288CA67C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/</a:t>
            </a:r>
          </a:p>
        </p:txBody>
      </p:sp>
      <p:sp>
        <p:nvSpPr>
          <p:cNvPr id="11" name="app-surface">
            <a:extLst xmlns:a="http://schemas.openxmlformats.org/drawingml/2006/main">
              <a:ext uri="{FF2B5EF4-FFF2-40B4-BE49-F238E27FC236}">
                <a16:creationId xmlns:a16="http://schemas.microsoft.com/office/drawing/2014/main" id="{1B613440-6C7B-441F-ABEB-E16C5B98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485775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DDF4E8"/>
          </a:solidFill>
          <a:ln xmlns:a="http://schemas.openxmlformats.org/drawingml/2006/main" w="9525">
            <a:solidFill>
              <a:srgbClr val="DDF4E8"/>
            </a:solidFill>
            <a:prstDash val="solid"/>
          </a:ln>
        </p:spPr>
      </p:sp>
      <p:sp>
        <p:nvSpPr>
          <p:cNvPr id="12" name="app-title">
            <a:extLst xmlns:a="http://schemas.openxmlformats.org/drawingml/2006/main">
              <a:ext uri="{FF2B5EF4-FFF2-40B4-BE49-F238E27FC236}">
                <a16:creationId xmlns:a16="http://schemas.microsoft.com/office/drawing/2014/main" id="{2373DE3F-DF27-4545-B26A-66378F29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146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Aplicación de recepción</a:t>
            </a:r>
          </a:p>
        </p:txBody>
      </p:sp>
      <p:sp>
        <p:nvSpPr>
          <p:cNvPr id="13" name="app-body">
            <a:extLst xmlns:a="http://schemas.openxmlformats.org/drawingml/2006/main">
              <a:ext uri="{FF2B5EF4-FFF2-40B4-BE49-F238E27FC236}">
                <a16:creationId xmlns:a16="http://schemas.microsoft.com/office/drawing/2014/main" id="{B2708ECD-F450-427F-B348-A9DC4890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8140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Autentica usuarios internos y habilita vistas operativas según el rol asignado.</a:t>
            </a:r>
          </a:p>
        </p:txBody>
      </p:sp>
      <p:sp>
        <p:nvSpPr>
          <p:cNvPr id="14" name="app-path-box">
            <a:extLst xmlns:a="http://schemas.openxmlformats.org/drawingml/2006/main">
              <a:ext uri="{FF2B5EF4-FFF2-40B4-BE49-F238E27FC236}">
                <a16:creationId xmlns:a16="http://schemas.microsoft.com/office/drawing/2014/main" id="{96D915C5-E9BD-4255-8461-2E40B871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76750"/>
            <a:ext cx="1295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app-path-text">
            <a:extLst xmlns:a="http://schemas.openxmlformats.org/drawingml/2006/main">
              <a:ext uri="{FF2B5EF4-FFF2-40B4-BE49-F238E27FC236}">
                <a16:creationId xmlns:a16="http://schemas.microsoft.com/office/drawing/2014/main" id="{113CB8C8-A369-431C-9A4A-BA55C26E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529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/app/login</a:t>
            </a:r>
          </a:p>
        </p:txBody>
      </p:sp>
      <p:cxnSp>
        <p:nvCxnSpPr>
          <p:cNvPr id="33" name="surface-link"/>
          <p:cNvCxnSpPr/>
          <p:nvPr/>
        </p:nvCxnSpPr>
        <p:spPr>
          <a:xfrm xmlns:a="http://schemas.openxmlformats.org/drawingml/2006/main">
            <a:off x="5391150" y="3829050"/>
            <a:ext cx="1390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4C81"/>
            </a:solidFill>
            <a:prstDash val="solid"/>
          </a:ln>
        </p:spPr>
      </p:cxnSp>
      <p:sp>
        <p:nvSpPr>
          <p:cNvPr id="17" name="surface-link-label">
            <a:extLst xmlns:a="http://schemas.openxmlformats.org/drawingml/2006/main">
              <a:ext uri="{FF2B5EF4-FFF2-40B4-BE49-F238E27FC236}">
                <a16:creationId xmlns:a16="http://schemas.microsoft.com/office/drawing/2014/main" id="{75A2AFDB-791D-4594-889A-20083283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433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acceso</a:t>
            </a:r>
          </a:p>
        </p:txBody>
      </p:sp>
    </p:spTree>
    <p:extLst>
      <p:ext uri="{BB962C8B-B14F-4D97-AF65-F5344CB8AC3E}">
        <p14:creationId xmlns:p14="http://schemas.microsoft.com/office/powerpoint/2010/main" val="2163612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5">
            <a:extLst xmlns:a="http://schemas.openxmlformats.org/drawingml/2006/main">
              <a:ext uri="{FF2B5EF4-FFF2-40B4-BE49-F238E27FC236}">
                <a16:creationId xmlns:a16="http://schemas.microsoft.com/office/drawing/2014/main" id="{623C0955-ACEB-4BED-9943-AB6CF0FF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DVT · PROYECTO FINAL INTEGRADOR</a:t>
            </a:r>
          </a:p>
        </p:txBody>
      </p:sp>
      <p:cxnSp>
        <p:nvCxnSpPr>
          <p:cNvPr id="21" name="top-rule-5"/>
          <p:cNvCxnSpPr/>
          <p:nvPr/>
        </p:nvCxnSpPr>
        <p:spPr>
          <a:xfrm xmlns:a="http://schemas.openxmlformats.org/drawingml/2006/main">
            <a:off x="533400" y="6858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0924BC96-74C3-4708-8318-1C97383E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1357B526-F2C9-4773-ABD4-9FE156A4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 arquitectura separa interfaz, reglas de negocio y persistencia</a:t>
            </a:r>
          </a:p>
        </p:txBody>
      </p:sp>
      <p:sp>
        <p:nvSpPr>
          <p:cNvPr id="5" name="subtitle-5">
            <a:extLst xmlns:a="http://schemas.openxmlformats.org/drawingml/2006/main">
              <a:ext uri="{FF2B5EF4-FFF2-40B4-BE49-F238E27FC236}">
                <a16:creationId xmlns:a16="http://schemas.microsoft.com/office/drawing/2014/main" id="{3290C6F9-A44C-474B-B644-F472E055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El backend aplica validaciones y permisos antes de consultar la base de datos.</a:t>
            </a:r>
          </a:p>
        </p:txBody>
      </p:sp>
      <p:cxnSp>
        <p:nvCxnSpPr>
          <p:cNvPr id="25" name="arch-line-1"/>
          <p:cNvCxnSpPr/>
          <p:nvPr/>
        </p:nvCxnSpPr>
        <p:spPr>
          <a:xfrm xmlns:a="http://schemas.openxmlformats.org/drawingml/2006/main">
            <a:off x="2914650" y="3552825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  <p:cxnSp>
        <p:nvCxnSpPr>
          <p:cNvPr id="26" name="arch-line-2"/>
          <p:cNvCxnSpPr/>
          <p:nvPr/>
        </p:nvCxnSpPr>
        <p:spPr>
          <a:xfrm xmlns:a="http://schemas.openxmlformats.org/drawingml/2006/main">
            <a:off x="7124700" y="3552825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  <p:sp>
        <p:nvSpPr>
          <p:cNvPr id="8" name="arch-ui">
            <a:extLst xmlns:a="http://schemas.openxmlformats.org/drawingml/2006/main">
              <a:ext uri="{FF2B5EF4-FFF2-40B4-BE49-F238E27FC236}">
                <a16:creationId xmlns:a16="http://schemas.microsoft.com/office/drawing/2014/main" id="{79C1C9DC-3448-44B5-ADF2-59F8F0C7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2381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D9EAF7"/>
            </a:solidFill>
            <a:prstDash val="solid"/>
          </a:ln>
        </p:spPr>
      </p:sp>
      <p:sp>
        <p:nvSpPr>
          <p:cNvPr id="9" name="arch-api">
            <a:extLst xmlns:a="http://schemas.openxmlformats.org/drawingml/2006/main">
              <a:ext uri="{FF2B5EF4-FFF2-40B4-BE49-F238E27FC236}">
                <a16:creationId xmlns:a16="http://schemas.microsoft.com/office/drawing/2014/main" id="{882E2BC7-0D47-4788-8220-D4213951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24955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FFF2CC"/>
            </a:solidFill>
            <a:prstDash val="solid"/>
          </a:ln>
        </p:spPr>
      </p:sp>
      <p:sp>
        <p:nvSpPr>
          <p:cNvPr id="10" name="arch-db">
            <a:extLst xmlns:a="http://schemas.openxmlformats.org/drawingml/2006/main">
              <a:ext uri="{FF2B5EF4-FFF2-40B4-BE49-F238E27FC236}">
                <a16:creationId xmlns:a16="http://schemas.microsoft.com/office/drawing/2014/main" id="{BF403B7B-FBF9-49F6-AFD2-255DCBDB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381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DF4E8"/>
          </a:solidFill>
          <a:ln xmlns:a="http://schemas.openxmlformats.org/drawingml/2006/main" w="9525">
            <a:solidFill>
              <a:srgbClr val="DDF4E8"/>
            </a:solidFill>
            <a:prstDash val="solid"/>
          </a:ln>
        </p:spPr>
      </p:sp>
      <p:sp>
        <p:nvSpPr>
          <p:cNvPr id="11" name="arch-ui-title">
            <a:extLst xmlns:a="http://schemas.openxmlformats.org/drawingml/2006/main">
              <a:ext uri="{FF2B5EF4-FFF2-40B4-BE49-F238E27FC236}">
                <a16:creationId xmlns:a16="http://schemas.microsoft.com/office/drawing/2014/main" id="{269A4768-7790-4920-924C-9F1E9559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Interfaz web</a:t>
            </a:r>
          </a:p>
        </p:txBody>
      </p:sp>
      <p:sp>
        <p:nvSpPr>
          <p:cNvPr id="12" name="arch-ui-body">
            <a:extLst xmlns:a="http://schemas.openxmlformats.org/drawingml/2006/main">
              <a:ext uri="{FF2B5EF4-FFF2-40B4-BE49-F238E27FC236}">
                <a16:creationId xmlns:a16="http://schemas.microsoft.com/office/drawing/2014/main" id="{54A88D37-C816-4CA2-B6E2-EECA1FD6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Landing estática</a:t>
            </a:r>
          </a:p>
          <a:p xmlns:a="http://schemas.openxmlformats.org/drawingml/2006/main">
            <a:pPr algn="ctr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Vue 3 + Vite</a:t>
            </a:r>
          </a:p>
        </p:txBody>
      </p:sp>
      <p:sp>
        <p:nvSpPr>
          <p:cNvPr id="13" name="arch-api-title">
            <a:extLst xmlns:a="http://schemas.openxmlformats.org/drawingml/2006/main">
              <a:ext uri="{FF2B5EF4-FFF2-40B4-BE49-F238E27FC236}">
                <a16:creationId xmlns:a16="http://schemas.microsoft.com/office/drawing/2014/main" id="{F53F646D-8D05-4382-B4FD-D0D7AC2D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146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API REST</a:t>
            </a:r>
          </a:p>
        </p:txBody>
      </p:sp>
      <p:sp>
        <p:nvSpPr>
          <p:cNvPr id="14" name="arch-api-body">
            <a:extLst xmlns:a="http://schemas.openxmlformats.org/drawingml/2006/main">
              <a:ext uri="{FF2B5EF4-FFF2-40B4-BE49-F238E27FC236}">
                <a16:creationId xmlns:a16="http://schemas.microsoft.com/office/drawing/2014/main" id="{ADB365FB-4B51-4C5A-9690-4E514135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29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Node.js + Express</a:t>
            </a:r>
          </a:p>
          <a:p xmlns:a="http://schemas.openxmlformats.org/drawingml/2006/main">
            <a:pPr algn="ctr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JWT · CORS · Servicios</a:t>
            </a:r>
          </a:p>
        </p:txBody>
      </p:sp>
      <p:sp>
        <p:nvSpPr>
          <p:cNvPr id="15" name="arch-db-title">
            <a:extLst xmlns:a="http://schemas.openxmlformats.org/drawingml/2006/main">
              <a:ext uri="{FF2B5EF4-FFF2-40B4-BE49-F238E27FC236}">
                <a16:creationId xmlns:a16="http://schemas.microsoft.com/office/drawing/2014/main" id="{2DE50B78-7A9C-405F-BD49-BC3F676D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86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Cloud Firestore</a:t>
            </a:r>
          </a:p>
        </p:txBody>
      </p:sp>
      <p:sp>
        <p:nvSpPr>
          <p:cNvPr id="16" name="arch-db-body">
            <a:extLst xmlns:a="http://schemas.openxmlformats.org/drawingml/2006/main">
              <a:ext uri="{FF2B5EF4-FFF2-40B4-BE49-F238E27FC236}">
                <a16:creationId xmlns:a16="http://schemas.microsoft.com/office/drawing/2014/main" id="{10BC8B74-9941-42A9-9432-2E452F22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242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918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Colecciones y documentos</a:t>
            </a:r>
          </a:p>
          <a:p xmlns:a="http://schemas.openxmlformats.org/drawingml/2006/main">
            <a:pPr algn="ctr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Firebase Admin SDK</a:t>
            </a:r>
          </a:p>
        </p:txBody>
      </p:sp>
      <p:sp>
        <p:nvSpPr>
          <p:cNvPr id="17" name="arch-https">
            <a:extLst xmlns:a="http://schemas.openxmlformats.org/drawingml/2006/main">
              <a:ext uri="{FF2B5EF4-FFF2-40B4-BE49-F238E27FC236}">
                <a16:creationId xmlns:a16="http://schemas.microsoft.com/office/drawing/2014/main" id="{691F8AB7-0155-4F9A-B9B3-28B5DA3D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623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HTTPS + JWT</a:t>
            </a:r>
          </a:p>
        </p:txBody>
      </p:sp>
      <p:sp>
        <p:nvSpPr>
          <p:cNvPr id="18" name="arch-data">
            <a:extLst xmlns:a="http://schemas.openxmlformats.org/drawingml/2006/main">
              <a:ext uri="{FF2B5EF4-FFF2-40B4-BE49-F238E27FC236}">
                <a16:creationId xmlns:a16="http://schemas.microsoft.com/office/drawing/2014/main" id="{87FD259B-B888-461C-B459-64BD5DB7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623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lectura y escritura</a:t>
            </a:r>
          </a:p>
        </p:txBody>
      </p:sp>
      <p:sp>
        <p:nvSpPr>
          <p:cNvPr id="19" name="source-5">
            <a:extLst xmlns:a="http://schemas.openxmlformats.org/drawingml/2006/main">
              <a:ext uri="{FF2B5EF4-FFF2-40B4-BE49-F238E27FC236}">
                <a16:creationId xmlns:a16="http://schemas.microsoft.com/office/drawing/2014/main" id="{0A61EAEB-73B9-47AF-9494-F4E5C01E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Tecnologías: Vue.js (2026), Firebase (2026), Node.js (2026).</a:t>
            </a:r>
          </a:p>
        </p:txBody>
      </p:sp>
    </p:spTree>
    <p:extLst>
      <p:ext uri="{BB962C8B-B14F-4D97-AF65-F5344CB8AC3E}">
        <p14:creationId xmlns:p14="http://schemas.microsoft.com/office/powerpoint/2010/main" val="9433624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6">
            <a:extLst xmlns:a="http://schemas.openxmlformats.org/drawingml/2006/main">
              <a:ext uri="{FF2B5EF4-FFF2-40B4-BE49-F238E27FC236}">
                <a16:creationId xmlns:a16="http://schemas.microsoft.com/office/drawing/2014/main" id="{A9049E4E-627C-4BB8-87C8-7D86ACB1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DVT · PROYECTO FINAL INTEGRADOR</a:t>
            </a:r>
          </a:p>
        </p:txBody>
      </p:sp>
      <p:cxnSp>
        <p:nvCxnSpPr>
          <p:cNvPr id="24" name="top-rule-6"/>
          <p:cNvCxnSpPr/>
          <p:nvPr/>
        </p:nvCxnSpPr>
        <p:spPr>
          <a:xfrm xmlns:a="http://schemas.openxmlformats.org/drawingml/2006/main">
            <a:off x="533400" y="6858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5635433-5121-45F9-831B-0484D81F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title-6">
            <a:extLst xmlns:a="http://schemas.openxmlformats.org/drawingml/2006/main">
              <a:ext uri="{FF2B5EF4-FFF2-40B4-BE49-F238E27FC236}">
                <a16:creationId xmlns:a16="http://schemas.microsoft.com/office/drawing/2014/main" id="{12C530B6-A98F-48E3-AC3D-389F9376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El stack fue elegido para construir y desplegar una SPA completa</a:t>
            </a:r>
          </a:p>
        </p:txBody>
      </p:sp>
      <p:sp>
        <p:nvSpPr>
          <p:cNvPr id="5" name="subtitle-6">
            <a:extLst xmlns:a="http://schemas.openxmlformats.org/drawingml/2006/main">
              <a:ext uri="{FF2B5EF4-FFF2-40B4-BE49-F238E27FC236}">
                <a16:creationId xmlns:a16="http://schemas.microsoft.com/office/drawing/2014/main" id="{81907E8D-E7AA-4766-BEF0-4A86EAF8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Cada tecnología cumple una responsabilidad concreta dentro de la solución.</a:t>
            </a:r>
          </a:p>
        </p:txBody>
      </p:sp>
      <p:sp>
        <p:nvSpPr>
          <p:cNvPr id="6" name="tech-1-frame">
            <a:extLst xmlns:a="http://schemas.openxmlformats.org/drawingml/2006/main">
              <a:ext uri="{FF2B5EF4-FFF2-40B4-BE49-F238E27FC236}">
                <a16:creationId xmlns:a16="http://schemas.microsoft.com/office/drawing/2014/main" id="{B78F9E73-D39F-475D-B676-05C0D71C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2428875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tech-1-accent">
            <a:extLst xmlns:a="http://schemas.openxmlformats.org/drawingml/2006/main">
              <a:ext uri="{FF2B5EF4-FFF2-40B4-BE49-F238E27FC236}">
                <a16:creationId xmlns:a16="http://schemas.microsoft.com/office/drawing/2014/main" id="{14AC0CBB-5B2F-447B-8080-12B6BD80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6667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8" name="tech-1-heading">
            <a:extLst xmlns:a="http://schemas.openxmlformats.org/drawingml/2006/main">
              <a:ext uri="{FF2B5EF4-FFF2-40B4-BE49-F238E27FC236}">
                <a16:creationId xmlns:a16="http://schemas.microsoft.com/office/drawing/2014/main" id="{A281FB8F-5181-4E45-899B-DBF20247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1971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9" name="tech-1-body">
            <a:extLst xmlns:a="http://schemas.openxmlformats.org/drawingml/2006/main">
              <a:ext uri="{FF2B5EF4-FFF2-40B4-BE49-F238E27FC236}">
                <a16:creationId xmlns:a16="http://schemas.microsoft.com/office/drawing/2014/main" id="{CA6C82F2-61E8-4BFD-B08B-A34222DA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19716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Vue 3, Vue Router y Vite para vistas reactivas, rutas y build de producción.</a:t>
            </a:r>
          </a:p>
        </p:txBody>
      </p:sp>
      <p:sp>
        <p:nvSpPr>
          <p:cNvPr id="10" name="tech-2-frame">
            <a:extLst xmlns:a="http://schemas.openxmlformats.org/drawingml/2006/main">
              <a:ext uri="{FF2B5EF4-FFF2-40B4-BE49-F238E27FC236}">
                <a16:creationId xmlns:a16="http://schemas.microsoft.com/office/drawing/2014/main" id="{5D7F901E-7BA9-4A89-B7B4-F9E04574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38400"/>
            <a:ext cx="2428875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tech-2-accent">
            <a:extLst xmlns:a="http://schemas.openxmlformats.org/drawingml/2006/main">
              <a:ext uri="{FF2B5EF4-FFF2-40B4-BE49-F238E27FC236}">
                <a16:creationId xmlns:a16="http://schemas.microsoft.com/office/drawing/2014/main" id="{84605C92-ED87-4DBF-91E4-57EB80B5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38400"/>
            <a:ext cx="6667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tech-2-heading">
            <a:extLst xmlns:a="http://schemas.openxmlformats.org/drawingml/2006/main">
              <a:ext uri="{FF2B5EF4-FFF2-40B4-BE49-F238E27FC236}">
                <a16:creationId xmlns:a16="http://schemas.microsoft.com/office/drawing/2014/main" id="{D934737B-1C77-4AAF-845D-1C899F3C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86050"/>
            <a:ext cx="1971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3" name="tech-2-body">
            <a:extLst xmlns:a="http://schemas.openxmlformats.org/drawingml/2006/main">
              <a:ext uri="{FF2B5EF4-FFF2-40B4-BE49-F238E27FC236}">
                <a16:creationId xmlns:a16="http://schemas.microsoft.com/office/drawing/2014/main" id="{5F4BC6E5-7054-4524-A338-B54B25BC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81350"/>
            <a:ext cx="19716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Node.js y Express para API REST, middlewares y reglas de negocio.</a:t>
            </a:r>
          </a:p>
        </p:txBody>
      </p:sp>
      <p:sp>
        <p:nvSpPr>
          <p:cNvPr id="14" name="tech-3-frame">
            <a:extLst xmlns:a="http://schemas.openxmlformats.org/drawingml/2006/main">
              <a:ext uri="{FF2B5EF4-FFF2-40B4-BE49-F238E27FC236}">
                <a16:creationId xmlns:a16="http://schemas.microsoft.com/office/drawing/2014/main" id="{3E2EAD11-1DC3-4D1B-99D2-8BA265F1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38400"/>
            <a:ext cx="2428875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tech-3-accent">
            <a:extLst xmlns:a="http://schemas.openxmlformats.org/drawingml/2006/main">
              <a:ext uri="{FF2B5EF4-FFF2-40B4-BE49-F238E27FC236}">
                <a16:creationId xmlns:a16="http://schemas.microsoft.com/office/drawing/2014/main" id="{4CCBDD85-8302-4251-B55C-79F260C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38400"/>
            <a:ext cx="6667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6" name="tech-3-heading">
            <a:extLst xmlns:a="http://schemas.openxmlformats.org/drawingml/2006/main">
              <a:ext uri="{FF2B5EF4-FFF2-40B4-BE49-F238E27FC236}">
                <a16:creationId xmlns:a16="http://schemas.microsoft.com/office/drawing/2014/main" id="{19C328E1-A9F8-4446-A896-B185D8FD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86050"/>
            <a:ext cx="1971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17" name="tech-3-body">
            <a:extLst xmlns:a="http://schemas.openxmlformats.org/drawingml/2006/main">
              <a:ext uri="{FF2B5EF4-FFF2-40B4-BE49-F238E27FC236}">
                <a16:creationId xmlns:a16="http://schemas.microsoft.com/office/drawing/2014/main" id="{1294C53D-A0ED-408F-A5E7-C2937029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19716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Cloud Firestore y Firebase Admin SDK para persistencia NoSQL.</a:t>
            </a:r>
          </a:p>
        </p:txBody>
      </p:sp>
      <p:sp>
        <p:nvSpPr>
          <p:cNvPr id="18" name="tech-4-frame">
            <a:extLst xmlns:a="http://schemas.openxmlformats.org/drawingml/2006/main">
              <a:ext uri="{FF2B5EF4-FFF2-40B4-BE49-F238E27FC236}">
                <a16:creationId xmlns:a16="http://schemas.microsoft.com/office/drawing/2014/main" id="{99E5ED12-4A6C-4AAA-A5EA-98EA8DF8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38400"/>
            <a:ext cx="2428875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tech-4-accent">
            <a:extLst xmlns:a="http://schemas.openxmlformats.org/drawingml/2006/main">
              <a:ext uri="{FF2B5EF4-FFF2-40B4-BE49-F238E27FC236}">
                <a16:creationId xmlns:a16="http://schemas.microsoft.com/office/drawing/2014/main" id="{A3F3E3E0-E9C1-4BCB-B150-BAB2E3EA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38400"/>
            <a:ext cx="6667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74D"/>
          </a:solidFill>
          <a:ln xmlns:a="http://schemas.openxmlformats.org/drawingml/2006/main" w="0">
            <a:solidFill>
              <a:srgbClr val="9D174D"/>
            </a:solidFill>
            <a:prstDash val="solid"/>
          </a:ln>
        </p:spPr>
      </p:sp>
      <p:sp>
        <p:nvSpPr>
          <p:cNvPr id="20" name="tech-4-heading">
            <a:extLst xmlns:a="http://schemas.openxmlformats.org/drawingml/2006/main">
              <a:ext uri="{FF2B5EF4-FFF2-40B4-BE49-F238E27FC236}">
                <a16:creationId xmlns:a16="http://schemas.microsoft.com/office/drawing/2014/main" id="{2746DEC4-5599-484C-BA15-1AD611F2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86050"/>
            <a:ext cx="1971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Hosting</a:t>
            </a:r>
          </a:p>
        </p:txBody>
      </p:sp>
      <p:sp>
        <p:nvSpPr>
          <p:cNvPr id="21" name="tech-4-body">
            <a:extLst xmlns:a="http://schemas.openxmlformats.org/drawingml/2006/main">
              <a:ext uri="{FF2B5EF4-FFF2-40B4-BE49-F238E27FC236}">
                <a16:creationId xmlns:a16="http://schemas.microsoft.com/office/drawing/2014/main" id="{268ECC91-DA55-4F51-8574-AE96AAC7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81350"/>
            <a:ext cx="19716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Render Web Service para build, inicio y health check público.</a:t>
            </a:r>
          </a:p>
        </p:txBody>
      </p:sp>
      <p:sp>
        <p:nvSpPr>
          <p:cNvPr id="22" name="source-6">
            <a:extLst xmlns:a="http://schemas.openxmlformats.org/drawingml/2006/main">
              <a:ext uri="{FF2B5EF4-FFF2-40B4-BE49-F238E27FC236}">
                <a16:creationId xmlns:a16="http://schemas.microsoft.com/office/drawing/2014/main" id="{B3674306-8A6D-47FA-8E18-908F04F3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Fuentes: Node.js (2026), Vue.js (2026), Vite (2026), Firebase (2026), Render (2026).</a:t>
            </a:r>
          </a:p>
        </p:txBody>
      </p:sp>
    </p:spTree>
    <p:extLst>
      <p:ext uri="{BB962C8B-B14F-4D97-AF65-F5344CB8AC3E}">
        <p14:creationId xmlns:p14="http://schemas.microsoft.com/office/powerpoint/2010/main" val="10698004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7">
            <a:extLst xmlns:a="http://schemas.openxmlformats.org/drawingml/2006/main">
              <a:ext uri="{FF2B5EF4-FFF2-40B4-BE49-F238E27FC236}">
                <a16:creationId xmlns:a16="http://schemas.microsoft.com/office/drawing/2014/main" id="{240D2201-1BFC-434E-BBAC-5B817718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DVT · PROYECTO FINAL INTEGRADOR</a:t>
            </a:r>
          </a:p>
        </p:txBody>
      </p:sp>
      <p:cxnSp>
        <p:nvCxnSpPr>
          <p:cNvPr id="26" name="top-rule-7"/>
          <p:cNvCxnSpPr/>
          <p:nvPr/>
        </p:nvCxnSpPr>
        <p:spPr>
          <a:xfrm xmlns:a="http://schemas.openxmlformats.org/drawingml/2006/main">
            <a:off x="533400" y="6858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0D5AD9B8-1807-4E6B-96D3-ECE89CB3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title-7">
            <a:extLst xmlns:a="http://schemas.openxmlformats.org/drawingml/2006/main">
              <a:ext uri="{FF2B5EF4-FFF2-40B4-BE49-F238E27FC236}">
                <a16:creationId xmlns:a16="http://schemas.microsoft.com/office/drawing/2014/main" id="{C11B61B9-E09E-48BA-9035-994A4AD5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Los módulos reflejan el recorrido real de la recepción</a:t>
            </a:r>
          </a:p>
        </p:txBody>
      </p:sp>
      <p:sp>
        <p:nvSpPr>
          <p:cNvPr id="5" name="subtitle-7">
            <a:extLst xmlns:a="http://schemas.openxmlformats.org/drawingml/2006/main">
              <a:ext uri="{FF2B5EF4-FFF2-40B4-BE49-F238E27FC236}">
                <a16:creationId xmlns:a16="http://schemas.microsoft.com/office/drawing/2014/main" id="{54D4378C-7BBB-4B9C-9936-96A38DD2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La aplicación no reúne pantallas aisladas: cada módulo alimenta el siguiente.</a:t>
            </a:r>
          </a:p>
        </p:txBody>
      </p:sp>
      <p:sp>
        <p:nvSpPr>
          <p:cNvPr id="6" name="module-0">
            <a:extLst xmlns:a="http://schemas.openxmlformats.org/drawingml/2006/main">
              <a:ext uri="{FF2B5EF4-FFF2-40B4-BE49-F238E27FC236}">
                <a16:creationId xmlns:a16="http://schemas.microsoft.com/office/drawing/2014/main" id="{20990FF8-0B4B-4A33-86BB-620D32D6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32194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module-title-0">
            <a:extLst xmlns:a="http://schemas.openxmlformats.org/drawingml/2006/main">
              <a:ext uri="{FF2B5EF4-FFF2-40B4-BE49-F238E27FC236}">
                <a16:creationId xmlns:a16="http://schemas.microsoft.com/office/drawing/2014/main" id="{72240793-C1BB-4F2E-AF66-0DF0471D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Usuarios</a:t>
            </a:r>
          </a:p>
        </p:txBody>
      </p:sp>
      <p:sp>
        <p:nvSpPr>
          <p:cNvPr id="8" name="module-body-0">
            <a:extLst xmlns:a="http://schemas.openxmlformats.org/drawingml/2006/main">
              <a:ext uri="{FF2B5EF4-FFF2-40B4-BE49-F238E27FC236}">
                <a16:creationId xmlns:a16="http://schemas.microsoft.com/office/drawing/2014/main" id="{689402B9-4455-40DE-BA3A-36D42D6B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roles y claves</a:t>
            </a:r>
          </a:p>
        </p:txBody>
      </p:sp>
      <p:sp>
        <p:nvSpPr>
          <p:cNvPr id="9" name="module-1">
            <a:extLst xmlns:a="http://schemas.openxmlformats.org/drawingml/2006/main">
              <a:ext uri="{FF2B5EF4-FFF2-40B4-BE49-F238E27FC236}">
                <a16:creationId xmlns:a16="http://schemas.microsoft.com/office/drawing/2014/main" id="{02B0A56A-B9FF-4CDF-B396-C858ED98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19350"/>
            <a:ext cx="32194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module-title-1">
            <a:extLst xmlns:a="http://schemas.openxmlformats.org/drawingml/2006/main">
              <a:ext uri="{FF2B5EF4-FFF2-40B4-BE49-F238E27FC236}">
                <a16:creationId xmlns:a16="http://schemas.microsoft.com/office/drawing/2014/main" id="{99053BA0-1A0E-40CB-A5B7-548AC0E4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79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Habitaciones</a:t>
            </a:r>
          </a:p>
        </p:txBody>
      </p:sp>
      <p:sp>
        <p:nvSpPr>
          <p:cNvPr id="11" name="module-body-1">
            <a:extLst xmlns:a="http://schemas.openxmlformats.org/drawingml/2006/main">
              <a:ext uri="{FF2B5EF4-FFF2-40B4-BE49-F238E27FC236}">
                <a16:creationId xmlns:a16="http://schemas.microsoft.com/office/drawing/2014/main" id="{ACB666E1-8D69-4AB0-B4BE-A7F5513D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5752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inventario y tarifa</a:t>
            </a:r>
          </a:p>
        </p:txBody>
      </p:sp>
      <p:sp>
        <p:nvSpPr>
          <p:cNvPr id="12" name="module-2">
            <a:extLst xmlns:a="http://schemas.openxmlformats.org/drawingml/2006/main">
              <a:ext uri="{FF2B5EF4-FFF2-40B4-BE49-F238E27FC236}">
                <a16:creationId xmlns:a16="http://schemas.microsoft.com/office/drawing/2014/main" id="{8B80A04D-D36C-468B-8AA8-08C67D0B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19350"/>
            <a:ext cx="32194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module-title-2">
            <a:extLst xmlns:a="http://schemas.openxmlformats.org/drawingml/2006/main">
              <a:ext uri="{FF2B5EF4-FFF2-40B4-BE49-F238E27FC236}">
                <a16:creationId xmlns:a16="http://schemas.microsoft.com/office/drawing/2014/main" id="{CB13BE8F-7DCB-4E3C-AC36-8EDF1F55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Huéspedes</a:t>
            </a:r>
          </a:p>
        </p:txBody>
      </p:sp>
      <p:sp>
        <p:nvSpPr>
          <p:cNvPr id="14" name="module-body-2">
            <a:extLst xmlns:a="http://schemas.openxmlformats.org/drawingml/2006/main">
              <a:ext uri="{FF2B5EF4-FFF2-40B4-BE49-F238E27FC236}">
                <a16:creationId xmlns:a16="http://schemas.microsoft.com/office/drawing/2014/main" id="{8AE927C6-7081-427D-B74B-9758D786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5752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datos de estadía</a:t>
            </a:r>
          </a:p>
        </p:txBody>
      </p:sp>
      <p:sp>
        <p:nvSpPr>
          <p:cNvPr id="15" name="module-3">
            <a:extLst xmlns:a="http://schemas.openxmlformats.org/drawingml/2006/main">
              <a:ext uri="{FF2B5EF4-FFF2-40B4-BE49-F238E27FC236}">
                <a16:creationId xmlns:a16="http://schemas.microsoft.com/office/drawing/2014/main" id="{593B39E4-E023-49C4-8E33-4C355C98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32194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module-title-3">
            <a:extLst xmlns:a="http://schemas.openxmlformats.org/drawingml/2006/main">
              <a:ext uri="{FF2B5EF4-FFF2-40B4-BE49-F238E27FC236}">
                <a16:creationId xmlns:a16="http://schemas.microsoft.com/office/drawing/2014/main" id="{8C633C94-711F-4ABE-AA02-5F36FC76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Reservas</a:t>
            </a:r>
          </a:p>
        </p:txBody>
      </p:sp>
      <p:sp>
        <p:nvSpPr>
          <p:cNvPr id="17" name="module-body-3">
            <a:extLst xmlns:a="http://schemas.openxmlformats.org/drawingml/2006/main">
              <a:ext uri="{FF2B5EF4-FFF2-40B4-BE49-F238E27FC236}">
                <a16:creationId xmlns:a16="http://schemas.microsoft.com/office/drawing/2014/main" id="{ACF51776-299A-430D-8F73-27163BF4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4342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fechas y operación</a:t>
            </a:r>
          </a:p>
        </p:txBody>
      </p:sp>
      <p:sp>
        <p:nvSpPr>
          <p:cNvPr id="18" name="module-4">
            <a:extLst xmlns:a="http://schemas.openxmlformats.org/drawingml/2006/main">
              <a:ext uri="{FF2B5EF4-FFF2-40B4-BE49-F238E27FC236}">
                <a16:creationId xmlns:a16="http://schemas.microsoft.com/office/drawing/2014/main" id="{EEE99C12-38AE-49C7-AAFB-27D1F72C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2194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module-title-4">
            <a:extLst xmlns:a="http://schemas.openxmlformats.org/drawingml/2006/main">
              <a:ext uri="{FF2B5EF4-FFF2-40B4-BE49-F238E27FC236}">
                <a16:creationId xmlns:a16="http://schemas.microsoft.com/office/drawing/2014/main" id="{C012EB0F-0F75-4058-9930-5B1E6B19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338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Consumos</a:t>
            </a:r>
          </a:p>
        </p:txBody>
      </p:sp>
      <p:sp>
        <p:nvSpPr>
          <p:cNvPr id="20" name="module-body-4">
            <a:extLst xmlns:a="http://schemas.openxmlformats.org/drawingml/2006/main">
              <a:ext uri="{FF2B5EF4-FFF2-40B4-BE49-F238E27FC236}">
                <a16:creationId xmlns:a16="http://schemas.microsoft.com/office/drawing/2014/main" id="{A18E8DAB-A9F1-4E07-94C7-761A3C8B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4342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cuenta corriente</a:t>
            </a:r>
          </a:p>
        </p:txBody>
      </p:sp>
      <p:sp>
        <p:nvSpPr>
          <p:cNvPr id="21" name="module-5">
            <a:extLst xmlns:a="http://schemas.openxmlformats.org/drawingml/2006/main">
              <a:ext uri="{FF2B5EF4-FFF2-40B4-BE49-F238E27FC236}">
                <a16:creationId xmlns:a16="http://schemas.microsoft.com/office/drawing/2014/main" id="{4990C1FF-B3B3-4A04-A56D-6CDBA628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5250"/>
            <a:ext cx="32194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module-title-5">
            <a:extLst xmlns:a="http://schemas.openxmlformats.org/drawingml/2006/main">
              <a:ext uri="{FF2B5EF4-FFF2-40B4-BE49-F238E27FC236}">
                <a16:creationId xmlns:a16="http://schemas.microsoft.com/office/drawing/2014/main" id="{CB2F892B-8FF2-454E-8655-D258DCBC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338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Pagos</a:t>
            </a:r>
          </a:p>
        </p:txBody>
      </p:sp>
      <p:sp>
        <p:nvSpPr>
          <p:cNvPr id="23" name="module-body-5">
            <a:extLst xmlns:a="http://schemas.openxmlformats.org/drawingml/2006/main">
              <a:ext uri="{FF2B5EF4-FFF2-40B4-BE49-F238E27FC236}">
                <a16:creationId xmlns:a16="http://schemas.microsoft.com/office/drawing/2014/main" id="{ECA0686B-9AD8-42A9-9571-E86D1BDB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4342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movimientos confirmados</a:t>
            </a:r>
          </a:p>
        </p:txBody>
      </p:sp>
      <p:sp>
        <p:nvSpPr>
          <p:cNvPr id="24" name="modules-close">
            <a:extLst xmlns:a="http://schemas.openxmlformats.org/drawingml/2006/main">
              <a:ext uri="{FF2B5EF4-FFF2-40B4-BE49-F238E27FC236}">
                <a16:creationId xmlns:a16="http://schemas.microsoft.com/office/drawing/2014/main" id="{17923694-2C5E-42F7-8CC8-49F31A6C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18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Los snapshots en reservas, consumos y pagos preservan el contexto histórico aunque cambien los registros maestros.</a:t>
            </a:r>
          </a:p>
        </p:txBody>
      </p:sp>
    </p:spTree>
    <p:extLst>
      <p:ext uri="{BB962C8B-B14F-4D97-AF65-F5344CB8AC3E}">
        <p14:creationId xmlns:p14="http://schemas.microsoft.com/office/powerpoint/2010/main" val="5339228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8">
            <a:extLst xmlns:a="http://schemas.openxmlformats.org/drawingml/2006/main">
              <a:ext uri="{FF2B5EF4-FFF2-40B4-BE49-F238E27FC236}">
                <a16:creationId xmlns:a16="http://schemas.microsoft.com/office/drawing/2014/main" id="{61048ED7-0739-443A-91A6-FF8CCE72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DVT · PROYECTO FINAL INTEGRADOR</a:t>
            </a:r>
          </a:p>
        </p:txBody>
      </p:sp>
      <p:cxnSp>
        <p:nvCxnSpPr>
          <p:cNvPr id="24" name="top-rule-8"/>
          <p:cNvCxnSpPr/>
          <p:nvPr/>
        </p:nvCxnSpPr>
        <p:spPr>
          <a:xfrm xmlns:a="http://schemas.openxmlformats.org/drawingml/2006/main">
            <a:off x="533400" y="6858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1F266DFE-CECC-423F-BB8C-5CC2B5B6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title-8">
            <a:extLst xmlns:a="http://schemas.openxmlformats.org/drawingml/2006/main">
              <a:ext uri="{FF2B5EF4-FFF2-40B4-BE49-F238E27FC236}">
                <a16:creationId xmlns:a16="http://schemas.microsoft.com/office/drawing/2014/main" id="{4B54B334-742B-459C-AEFD-FF2406DF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Las reservas se validan antes de bloquear la disponibilidad</a:t>
            </a:r>
          </a:p>
        </p:txBody>
      </p:sp>
      <p:sp>
        <p:nvSpPr>
          <p:cNvPr id="5" name="subtitle-8">
            <a:extLst xmlns:a="http://schemas.openxmlformats.org/drawingml/2006/main">
              <a:ext uri="{FF2B5EF4-FFF2-40B4-BE49-F238E27FC236}">
                <a16:creationId xmlns:a16="http://schemas.microsoft.com/office/drawing/2014/main" id="{BDF1BC14-5D01-4A0B-871C-73D80F82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La lógica compara rangos de fechas y estados activos para evitar solapamientos.</a:t>
            </a:r>
          </a:p>
        </p:txBody>
      </p:sp>
      <p:sp>
        <p:nvSpPr>
          <p:cNvPr id="6" name="reserve-0-box">
            <a:extLst xmlns:a="http://schemas.openxmlformats.org/drawingml/2006/main">
              <a:ext uri="{FF2B5EF4-FFF2-40B4-BE49-F238E27FC236}">
                <a16:creationId xmlns:a16="http://schemas.microsoft.com/office/drawing/2014/main" id="{BFDE7C49-885F-4AD3-B375-2261C6E2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D9EAF7"/>
            </a:solidFill>
            <a:prstDash val="solid"/>
          </a:ln>
        </p:spPr>
      </p:sp>
      <p:sp>
        <p:nvSpPr>
          <p:cNvPr id="7" name="reserve-0-number">
            <a:extLst xmlns:a="http://schemas.openxmlformats.org/drawingml/2006/main">
              <a:ext uri="{FF2B5EF4-FFF2-40B4-BE49-F238E27FC236}">
                <a16:creationId xmlns:a16="http://schemas.microsoft.com/office/drawing/2014/main" id="{7F2BF1C5-162F-46F5-9159-94956039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reserve-0-detail">
            <a:extLst xmlns:a="http://schemas.openxmlformats.org/drawingml/2006/main">
              <a:ext uri="{FF2B5EF4-FFF2-40B4-BE49-F238E27FC236}">
                <a16:creationId xmlns:a16="http://schemas.microsoft.com/office/drawing/2014/main" id="{A18A994E-FD82-4308-903C-8E0103D8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184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Seleccionar habitación</a:t>
            </a:r>
          </a:p>
        </p:txBody>
      </p:sp>
      <p:sp>
        <p:nvSpPr>
          <p:cNvPr id="9" name="reserve-note-0">
            <a:extLst xmlns:a="http://schemas.openxmlformats.org/drawingml/2006/main">
              <a:ext uri="{FF2B5EF4-FFF2-40B4-BE49-F238E27FC236}">
                <a16:creationId xmlns:a16="http://schemas.microsoft.com/office/drawing/2014/main" id="{CCD1EB89-89A7-4007-9C25-F2A09A8B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No se permite mantenimiento.</a:t>
            </a:r>
          </a:p>
        </p:txBody>
      </p:sp>
      <p:sp>
        <p:nvSpPr>
          <p:cNvPr id="10" name="reserve-1-box">
            <a:extLst xmlns:a="http://schemas.openxmlformats.org/drawingml/2006/main">
              <a:ext uri="{FF2B5EF4-FFF2-40B4-BE49-F238E27FC236}">
                <a16:creationId xmlns:a16="http://schemas.microsoft.com/office/drawing/2014/main" id="{5415FB93-3789-4DDD-9CF9-373019A1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0035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D9EAF7"/>
            </a:solidFill>
            <a:prstDash val="solid"/>
          </a:ln>
        </p:spPr>
      </p:sp>
      <p:sp>
        <p:nvSpPr>
          <p:cNvPr id="11" name="reserve-1-number">
            <a:extLst xmlns:a="http://schemas.openxmlformats.org/drawingml/2006/main">
              <a:ext uri="{FF2B5EF4-FFF2-40B4-BE49-F238E27FC236}">
                <a16:creationId xmlns:a16="http://schemas.microsoft.com/office/drawing/2014/main" id="{A284E0D1-583B-4A1F-A741-F0BE903C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9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reserve-1-detail">
            <a:extLst xmlns:a="http://schemas.openxmlformats.org/drawingml/2006/main">
              <a:ext uri="{FF2B5EF4-FFF2-40B4-BE49-F238E27FC236}">
                <a16:creationId xmlns:a16="http://schemas.microsoft.com/office/drawing/2014/main" id="{CD3E7CC9-9DB9-412E-BD45-A88BDF7F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05200"/>
            <a:ext cx="184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Validar fechas</a:t>
            </a:r>
          </a:p>
        </p:txBody>
      </p:sp>
      <p:sp>
        <p:nvSpPr>
          <p:cNvPr id="13" name="reserve-note-1">
            <a:extLst xmlns:a="http://schemas.openxmlformats.org/drawingml/2006/main">
              <a:ext uri="{FF2B5EF4-FFF2-40B4-BE49-F238E27FC236}">
                <a16:creationId xmlns:a16="http://schemas.microsoft.com/office/drawing/2014/main" id="{8A89FD9A-4ABB-4D34-B014-7DEC20EE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053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Ingreso anterior a salida.</a:t>
            </a:r>
          </a:p>
        </p:txBody>
      </p:sp>
      <p:sp>
        <p:nvSpPr>
          <p:cNvPr id="14" name="reserve-2-box">
            <a:extLst xmlns:a="http://schemas.openxmlformats.org/drawingml/2006/main">
              <a:ext uri="{FF2B5EF4-FFF2-40B4-BE49-F238E27FC236}">
                <a16:creationId xmlns:a16="http://schemas.microsoft.com/office/drawing/2014/main" id="{976AA8E9-8036-468A-AFAC-8832130D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FFF2CC"/>
            </a:solidFill>
            <a:prstDash val="solid"/>
          </a:ln>
        </p:spPr>
      </p:sp>
      <p:sp>
        <p:nvSpPr>
          <p:cNvPr id="15" name="reserve-2-number">
            <a:extLst xmlns:a="http://schemas.openxmlformats.org/drawingml/2006/main">
              <a:ext uri="{FF2B5EF4-FFF2-40B4-BE49-F238E27FC236}">
                <a16:creationId xmlns:a16="http://schemas.microsoft.com/office/drawing/2014/main" id="{A35088EB-B049-4F9A-9448-BF311D07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09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reserve-2-detail">
            <a:extLst xmlns:a="http://schemas.openxmlformats.org/drawingml/2006/main">
              <a:ext uri="{FF2B5EF4-FFF2-40B4-BE49-F238E27FC236}">
                <a16:creationId xmlns:a16="http://schemas.microsoft.com/office/drawing/2014/main" id="{99C23A70-9A18-42E6-9A7C-7955071E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05200"/>
            <a:ext cx="184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Buscar conflictos</a:t>
            </a:r>
          </a:p>
        </p:txBody>
      </p:sp>
      <p:sp>
        <p:nvSpPr>
          <p:cNvPr id="17" name="reserve-note-2">
            <a:extLst xmlns:a="http://schemas.openxmlformats.org/drawingml/2006/main">
              <a:ext uri="{FF2B5EF4-FFF2-40B4-BE49-F238E27FC236}">
                <a16:creationId xmlns:a16="http://schemas.microsoft.com/office/drawing/2014/main" id="{1E04F42F-84CF-446F-A708-7B643EB4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No hay reservas activas superpuestas.</a:t>
            </a:r>
          </a:p>
        </p:txBody>
      </p:sp>
      <p:sp>
        <p:nvSpPr>
          <p:cNvPr id="18" name="reserve-3-box">
            <a:extLst xmlns:a="http://schemas.openxmlformats.org/drawingml/2006/main">
              <a:ext uri="{FF2B5EF4-FFF2-40B4-BE49-F238E27FC236}">
                <a16:creationId xmlns:a16="http://schemas.microsoft.com/office/drawing/2014/main" id="{3C04F181-5604-415E-AA27-184BF205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035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D9EAF7"/>
            </a:solidFill>
            <a:prstDash val="solid"/>
          </a:ln>
        </p:spPr>
      </p:sp>
      <p:sp>
        <p:nvSpPr>
          <p:cNvPr id="19" name="reserve-3-number">
            <a:extLst xmlns:a="http://schemas.openxmlformats.org/drawingml/2006/main">
              <a:ext uri="{FF2B5EF4-FFF2-40B4-BE49-F238E27FC236}">
                <a16:creationId xmlns:a16="http://schemas.microsoft.com/office/drawing/2014/main" id="{A6DB1184-A9C8-424C-AAA0-7884F653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09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reserve-3-detail">
            <a:extLst xmlns:a="http://schemas.openxmlformats.org/drawingml/2006/main">
              <a:ext uri="{FF2B5EF4-FFF2-40B4-BE49-F238E27FC236}">
                <a16:creationId xmlns:a16="http://schemas.microsoft.com/office/drawing/2014/main" id="{0A74EC2A-9617-43EE-A7BF-F60C1E72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05200"/>
            <a:ext cx="184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Confirmar operación</a:t>
            </a:r>
          </a:p>
        </p:txBody>
      </p:sp>
      <p:sp>
        <p:nvSpPr>
          <p:cNvPr id="21" name="reserve-note-3">
            <a:extLst xmlns:a="http://schemas.openxmlformats.org/drawingml/2006/main">
              <a:ext uri="{FF2B5EF4-FFF2-40B4-BE49-F238E27FC236}">
                <a16:creationId xmlns:a16="http://schemas.microsoft.com/office/drawing/2014/main" id="{F3F708B2-20C6-463D-8C40-8008D910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053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Se guarda snapshot y disponibilidad diaria.</a:t>
            </a:r>
          </a:p>
        </p:txBody>
      </p:sp>
      <p:sp>
        <p:nvSpPr>
          <p:cNvPr id="22" name="reserve-states">
            <a:extLst xmlns:a="http://schemas.openxmlformats.org/drawingml/2006/main">
              <a:ext uri="{FF2B5EF4-FFF2-40B4-BE49-F238E27FC236}">
                <a16:creationId xmlns:a16="http://schemas.microsoft.com/office/drawing/2014/main" id="{53E023DE-9567-45FD-BCB0-7BA85FD0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95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Estados operativos: pending · confirmed · checked_in · checked_out · cancelled</a:t>
            </a:r>
          </a:p>
        </p:txBody>
      </p:sp>
    </p:spTree>
    <p:extLst>
      <p:ext uri="{BB962C8B-B14F-4D97-AF65-F5344CB8AC3E}">
        <p14:creationId xmlns:p14="http://schemas.microsoft.com/office/powerpoint/2010/main" val="10261765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9">
            <a:extLst xmlns:a="http://schemas.openxmlformats.org/drawingml/2006/main">
              <a:ext uri="{FF2B5EF4-FFF2-40B4-BE49-F238E27FC236}">
                <a16:creationId xmlns:a16="http://schemas.microsoft.com/office/drawing/2014/main" id="{240A4E5E-99CC-4735-8802-00D562A1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DVT · PROYECTO FINAL INTEGRADOR</a:t>
            </a:r>
          </a:p>
        </p:txBody>
      </p:sp>
      <p:cxnSp>
        <p:nvCxnSpPr>
          <p:cNvPr id="19" name="top-rule-9"/>
          <p:cNvCxnSpPr/>
          <p:nvPr/>
        </p:nvCxnSpPr>
        <p:spPr>
          <a:xfrm xmlns:a="http://schemas.openxmlformats.org/drawingml/2006/main">
            <a:off x="533400" y="6858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AB83DD63-DB8B-426D-AE92-E108B434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title-9">
            <a:extLst xmlns:a="http://schemas.openxmlformats.org/drawingml/2006/main">
              <a:ext uri="{FF2B5EF4-FFF2-40B4-BE49-F238E27FC236}">
                <a16:creationId xmlns:a16="http://schemas.microsoft.com/office/drawing/2014/main" id="{DAB4F9F7-F9A0-436D-9C5E-EADA85D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Agregar un consumo a la cuenta no equivale a cobrarlo</a:t>
            </a:r>
          </a:p>
        </p:txBody>
      </p:sp>
      <p:sp>
        <p:nvSpPr>
          <p:cNvPr id="5" name="subtitle-9">
            <a:extLst xmlns:a="http://schemas.openxmlformats.org/drawingml/2006/main">
              <a:ext uri="{FF2B5EF4-FFF2-40B4-BE49-F238E27FC236}">
                <a16:creationId xmlns:a16="http://schemas.microsoft.com/office/drawing/2014/main" id="{05CAEDCB-126B-4878-B9DA-ED606171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La separación de estados evita confundir el registro operativo con el ingreso de dinero.</a:t>
            </a:r>
          </a:p>
        </p:txBody>
      </p:sp>
      <p:sp>
        <p:nvSpPr>
          <p:cNvPr id="6" name="money-box-0">
            <a:extLst xmlns:a="http://schemas.openxmlformats.org/drawingml/2006/main">
              <a:ext uri="{FF2B5EF4-FFF2-40B4-BE49-F238E27FC236}">
                <a16:creationId xmlns:a16="http://schemas.microsoft.com/office/drawing/2014/main" id="{29736423-DD07-4AD6-94BA-8316CE2A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9718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9525">
            <a:solidFill>
              <a:srgbClr val="FCE7F3"/>
            </a:solidFill>
            <a:prstDash val="solid"/>
          </a:ln>
        </p:spPr>
      </p:sp>
      <p:sp>
        <p:nvSpPr>
          <p:cNvPr id="7" name="money-title-0">
            <a:extLst xmlns:a="http://schemas.openxmlformats.org/drawingml/2006/main">
              <a:ext uri="{FF2B5EF4-FFF2-40B4-BE49-F238E27FC236}">
                <a16:creationId xmlns:a16="http://schemas.microsoft.com/office/drawing/2014/main" id="{D7949E49-3821-4066-9A0A-66471436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PENDIENTE</a:t>
            </a:r>
          </a:p>
        </p:txBody>
      </p:sp>
      <p:sp>
        <p:nvSpPr>
          <p:cNvPr id="8" name="money-body-0">
            <a:extLst xmlns:a="http://schemas.openxmlformats.org/drawingml/2006/main">
              <a:ext uri="{FF2B5EF4-FFF2-40B4-BE49-F238E27FC236}">
                <a16:creationId xmlns:a16="http://schemas.microsoft.com/office/drawing/2014/main" id="{43198A3D-6CFB-452B-AB4F-0A4E0C5A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240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Se registra el servicio y todavía puede corregirse.</a:t>
            </a:r>
          </a:p>
        </p:txBody>
      </p:sp>
      <p:sp>
        <p:nvSpPr>
          <p:cNvPr id="9" name="money-arrow-0">
            <a:extLst xmlns:a="http://schemas.openxmlformats.org/drawingml/2006/main">
              <a:ext uri="{FF2B5EF4-FFF2-40B4-BE49-F238E27FC236}">
                <a16:creationId xmlns:a16="http://schemas.microsoft.com/office/drawing/2014/main" id="{AF4F971A-38BB-48EB-BC94-7554CB6C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1947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money-box-1">
            <a:extLst xmlns:a="http://schemas.openxmlformats.org/drawingml/2006/main">
              <a:ext uri="{FF2B5EF4-FFF2-40B4-BE49-F238E27FC236}">
                <a16:creationId xmlns:a16="http://schemas.microsoft.com/office/drawing/2014/main" id="{DD504AC6-B0F6-48ED-A736-72ED4DF3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05100"/>
            <a:ext cx="29718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FFF2CC"/>
            </a:solidFill>
            <a:prstDash val="solid"/>
          </a:ln>
        </p:spPr>
      </p:sp>
      <p:sp>
        <p:nvSpPr>
          <p:cNvPr id="11" name="money-title-1">
            <a:extLst xmlns:a="http://schemas.openxmlformats.org/drawingml/2006/main">
              <a:ext uri="{FF2B5EF4-FFF2-40B4-BE49-F238E27FC236}">
                <a16:creationId xmlns:a16="http://schemas.microsoft.com/office/drawing/2014/main" id="{059F0BBC-5520-49B2-8D18-FEE071F4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48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EN CUENTA</a:t>
            </a:r>
          </a:p>
        </p:txBody>
      </p:sp>
      <p:sp>
        <p:nvSpPr>
          <p:cNvPr id="12" name="money-body-1">
            <a:extLst xmlns:a="http://schemas.openxmlformats.org/drawingml/2006/main">
              <a:ext uri="{FF2B5EF4-FFF2-40B4-BE49-F238E27FC236}">
                <a16:creationId xmlns:a16="http://schemas.microsoft.com/office/drawing/2014/main" id="{2BA1A1A9-584D-48C7-A608-F2C8219C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581400"/>
            <a:ext cx="240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El cargo se suma al saldo de la reserva.</a:t>
            </a:r>
          </a:p>
        </p:txBody>
      </p:sp>
      <p:sp>
        <p:nvSpPr>
          <p:cNvPr id="13" name="money-arrow-1">
            <a:extLst xmlns:a="http://schemas.openxmlformats.org/drawingml/2006/main">
              <a:ext uri="{FF2B5EF4-FFF2-40B4-BE49-F238E27FC236}">
                <a16:creationId xmlns:a16="http://schemas.microsoft.com/office/drawing/2014/main" id="{5915464B-B5E6-42E9-9073-2E317704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41947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money-box-2">
            <a:extLst xmlns:a="http://schemas.openxmlformats.org/drawingml/2006/main">
              <a:ext uri="{FF2B5EF4-FFF2-40B4-BE49-F238E27FC236}">
                <a16:creationId xmlns:a16="http://schemas.microsoft.com/office/drawing/2014/main" id="{50EA8A3B-8E55-468E-8E80-7488FB6F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05100"/>
            <a:ext cx="29718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DF4E8"/>
          </a:solidFill>
          <a:ln xmlns:a="http://schemas.openxmlformats.org/drawingml/2006/main" w="9525">
            <a:solidFill>
              <a:srgbClr val="DDF4E8"/>
            </a:solidFill>
            <a:prstDash val="solid"/>
          </a:ln>
        </p:spPr>
      </p:sp>
      <p:sp>
        <p:nvSpPr>
          <p:cNvPr id="15" name="money-title-2">
            <a:extLst xmlns:a="http://schemas.openxmlformats.org/drawingml/2006/main">
              <a:ext uri="{FF2B5EF4-FFF2-40B4-BE49-F238E27FC236}">
                <a16:creationId xmlns:a16="http://schemas.microsoft.com/office/drawing/2014/main" id="{275976ED-6A77-4590-A764-D3B1A7AD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PAGO CONFIRMADO</a:t>
            </a:r>
          </a:p>
        </p:txBody>
      </p:sp>
      <p:sp>
        <p:nvSpPr>
          <p:cNvPr id="16" name="money-body-2">
            <a:extLst xmlns:a="http://schemas.openxmlformats.org/drawingml/2006/main">
              <a:ext uri="{FF2B5EF4-FFF2-40B4-BE49-F238E27FC236}">
                <a16:creationId xmlns:a16="http://schemas.microsoft.com/office/drawing/2014/main" id="{71BC0AFC-27E1-426B-AAF9-A1E4CECC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81400"/>
            <a:ext cx="240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Se crea un movimiento con método y monto.</a:t>
            </a:r>
          </a:p>
        </p:txBody>
      </p:sp>
      <p:sp>
        <p:nvSpPr>
          <p:cNvPr id="17" name="money-rule">
            <a:extLst xmlns:a="http://schemas.openxmlformats.org/drawingml/2006/main">
              <a:ext uri="{FF2B5EF4-FFF2-40B4-BE49-F238E27FC236}">
                <a16:creationId xmlns:a16="http://schemas.microsoft.com/office/drawing/2014/main" id="{3736D7D7-350A-4141-BF6D-AF99682C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Categorías normalizadas: gastronomía · lavandería · estacionamiento · spa · otros.</a:t>
            </a:r>
          </a:p>
        </p:txBody>
      </p:sp>
    </p:spTree>
    <p:extLst>
      <p:ext uri="{BB962C8B-B14F-4D97-AF65-F5344CB8AC3E}">
        <p14:creationId xmlns:p14="http://schemas.microsoft.com/office/powerpoint/2010/main" val="4340406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10">
            <a:extLst xmlns:a="http://schemas.openxmlformats.org/drawingml/2006/main">
              <a:ext uri="{FF2B5EF4-FFF2-40B4-BE49-F238E27FC236}">
                <a16:creationId xmlns:a16="http://schemas.microsoft.com/office/drawing/2014/main" id="{17111089-ACD5-4CC5-9EE1-D3549ADE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DVT · PROYECTO FINAL INTEGRADOR</a:t>
            </a:r>
          </a:p>
        </p:txBody>
      </p:sp>
      <p:cxnSp>
        <p:nvCxnSpPr>
          <p:cNvPr id="20" name="top-rule-10"/>
          <p:cNvCxnSpPr/>
          <p:nvPr/>
        </p:nvCxnSpPr>
        <p:spPr>
          <a:xfrm xmlns:a="http://schemas.openxmlformats.org/drawingml/2006/main">
            <a:off x="533400" y="6858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647AE28B-E56E-4A82-8615-7226DE62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title-10">
            <a:extLst xmlns:a="http://schemas.openxmlformats.org/drawingml/2006/main">
              <a:ext uri="{FF2B5EF4-FFF2-40B4-BE49-F238E27FC236}">
                <a16:creationId xmlns:a16="http://schemas.microsoft.com/office/drawing/2014/main" id="{FBAA5681-C7E1-40DF-AD0C-33D5C21A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 seguridad combina sesión, roles y resguardo de secretos</a:t>
            </a:r>
          </a:p>
        </p:txBody>
      </p:sp>
      <p:sp>
        <p:nvSpPr>
          <p:cNvPr id="5" name="subtitle-10">
            <a:extLst xmlns:a="http://schemas.openxmlformats.org/drawingml/2006/main">
              <a:ext uri="{FF2B5EF4-FFF2-40B4-BE49-F238E27FC236}">
                <a16:creationId xmlns:a16="http://schemas.microsoft.com/office/drawing/2014/main" id="{79246810-8D6F-43C1-BCC8-62A8E3AA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La autorización se verifica en el backend; no depende sólo de ocultar botones.</a:t>
            </a:r>
          </a:p>
        </p:txBody>
      </p:sp>
      <p:sp>
        <p:nvSpPr>
          <p:cNvPr id="6" name="security-left">
            <a:extLst xmlns:a="http://schemas.openxmlformats.org/drawingml/2006/main">
              <a:ext uri="{FF2B5EF4-FFF2-40B4-BE49-F238E27FC236}">
                <a16:creationId xmlns:a16="http://schemas.microsoft.com/office/drawing/2014/main" id="{685258A1-06AB-451B-91BD-68B48634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51054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D9EAF7"/>
            </a:solidFill>
            <a:prstDash val="solid"/>
          </a:ln>
        </p:spPr>
      </p:sp>
      <p:sp>
        <p:nvSpPr>
          <p:cNvPr id="7" name="security-left-title">
            <a:extLst xmlns:a="http://schemas.openxmlformats.org/drawingml/2006/main">
              <a:ext uri="{FF2B5EF4-FFF2-40B4-BE49-F238E27FC236}">
                <a16:creationId xmlns:a16="http://schemas.microsoft.com/office/drawing/2014/main" id="{8100A097-F253-4012-B6A2-6645A84B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8" name="security-left-body">
            <a:extLst xmlns:a="http://schemas.openxmlformats.org/drawingml/2006/main">
              <a:ext uri="{FF2B5EF4-FFF2-40B4-BE49-F238E27FC236}">
                <a16:creationId xmlns:a16="http://schemas.microsoft.com/office/drawing/2014/main" id="{3A8A3E0E-FAF9-420C-9421-41BCA298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4000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Gestiona usuarios, habitaciones, cierres y eliminaciones.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Asigna claves temporales tras validar identidad.</a:t>
            </a:r>
          </a:p>
        </p:txBody>
      </p:sp>
      <p:sp>
        <p:nvSpPr>
          <p:cNvPr id="9" name="security-right">
            <a:extLst xmlns:a="http://schemas.openxmlformats.org/drawingml/2006/main">
              <a:ext uri="{FF2B5EF4-FFF2-40B4-BE49-F238E27FC236}">
                <a16:creationId xmlns:a16="http://schemas.microsoft.com/office/drawing/2014/main" id="{EE57A595-DF0A-4CA3-9836-346B8012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38400"/>
            <a:ext cx="51054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DDF4E8"/>
          </a:solidFill>
          <a:ln xmlns:a="http://schemas.openxmlformats.org/drawingml/2006/main" w="9525">
            <a:solidFill>
              <a:srgbClr val="DDF4E8"/>
            </a:solidFill>
            <a:prstDash val="solid"/>
          </a:ln>
        </p:spPr>
      </p:sp>
      <p:sp>
        <p:nvSpPr>
          <p:cNvPr id="10" name="security-right-title">
            <a:extLst xmlns:a="http://schemas.openxmlformats.org/drawingml/2006/main">
              <a:ext uri="{FF2B5EF4-FFF2-40B4-BE49-F238E27FC236}">
                <a16:creationId xmlns:a16="http://schemas.microsoft.com/office/drawing/2014/main" id="{685FECF1-4FF1-4C5F-AAE0-62111410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RECEPCIONISTA</a:t>
            </a:r>
          </a:p>
        </p:txBody>
      </p:sp>
      <p:sp>
        <p:nvSpPr>
          <p:cNvPr id="11" name="security-right-body">
            <a:extLst xmlns:a="http://schemas.openxmlformats.org/drawingml/2006/main">
              <a:ext uri="{FF2B5EF4-FFF2-40B4-BE49-F238E27FC236}">
                <a16:creationId xmlns:a16="http://schemas.microsoft.com/office/drawing/2014/main" id="{854CA464-8D91-42B8-940F-A52CD157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9950"/>
            <a:ext cx="4000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Opera huéspedes, reservas, consumos pendientes y pagos.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No administra usuarios ni elimina movimientos críticos.</a:t>
            </a:r>
          </a:p>
        </p:txBody>
      </p:sp>
      <p:sp>
        <p:nvSpPr>
          <p:cNvPr id="12" name="jwt-pill-box">
            <a:extLst xmlns:a="http://schemas.openxmlformats.org/drawingml/2006/main">
              <a:ext uri="{FF2B5EF4-FFF2-40B4-BE49-F238E27FC236}">
                <a16:creationId xmlns:a16="http://schemas.microsoft.com/office/drawing/2014/main" id="{55A86AD8-44AB-4542-9874-795315DF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2076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D9EAF7"/>
            </a:solidFill>
            <a:prstDash val="solid"/>
          </a:ln>
        </p:spPr>
      </p:sp>
      <p:sp>
        <p:nvSpPr>
          <p:cNvPr id="13" name="jwt-pill-text">
            <a:extLst xmlns:a="http://schemas.openxmlformats.org/drawingml/2006/main">
              <a:ext uri="{FF2B5EF4-FFF2-40B4-BE49-F238E27FC236}">
                <a16:creationId xmlns:a16="http://schemas.microsoft.com/office/drawing/2014/main" id="{FE0FE6C0-97E5-424A-AAF4-146E9C7B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JWT · sesión de 8 horas</a:t>
            </a:r>
          </a:p>
        </p:txBody>
      </p:sp>
      <p:sp>
        <p:nvSpPr>
          <p:cNvPr id="14" name="bcrypt-pill-box">
            <a:extLst xmlns:a="http://schemas.openxmlformats.org/drawingml/2006/main">
              <a:ext uri="{FF2B5EF4-FFF2-40B4-BE49-F238E27FC236}">
                <a16:creationId xmlns:a16="http://schemas.microsoft.com/office/drawing/2014/main" id="{680D879C-6DF0-4277-A085-2ABCBA16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5435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8"/>
          </a:solidFill>
          <a:ln xmlns:a="http://schemas.openxmlformats.org/drawingml/2006/main" w="9525">
            <a:solidFill>
              <a:srgbClr val="DDF4E8"/>
            </a:solidFill>
            <a:prstDash val="solid"/>
          </a:ln>
        </p:spPr>
      </p:sp>
      <p:sp>
        <p:nvSpPr>
          <p:cNvPr id="15" name="bcrypt-pill-text">
            <a:extLst xmlns:a="http://schemas.openxmlformats.org/drawingml/2006/main">
              <a:ext uri="{FF2B5EF4-FFF2-40B4-BE49-F238E27FC236}">
                <a16:creationId xmlns:a16="http://schemas.microsoft.com/office/drawing/2014/main" id="{2013471D-8D38-4C23-AB42-8ECBF892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19750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bcrypt · hash de claves</a:t>
            </a:r>
          </a:p>
        </p:txBody>
      </p:sp>
      <p:sp>
        <p:nvSpPr>
          <p:cNvPr id="16" name="cors-pill-box">
            <a:extLst xmlns:a="http://schemas.openxmlformats.org/drawingml/2006/main">
              <a:ext uri="{FF2B5EF4-FFF2-40B4-BE49-F238E27FC236}">
                <a16:creationId xmlns:a16="http://schemas.microsoft.com/office/drawing/2014/main" id="{B6F086D2-315D-411B-8916-223BECDD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543550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FFF2CC"/>
            </a:solidFill>
            <a:prstDash val="solid"/>
          </a:ln>
        </p:spPr>
      </p:sp>
      <p:sp>
        <p:nvSpPr>
          <p:cNvPr id="17" name="cors-pill-text">
            <a:extLst xmlns:a="http://schemas.openxmlformats.org/drawingml/2006/main">
              <a:ext uri="{FF2B5EF4-FFF2-40B4-BE49-F238E27FC236}">
                <a16:creationId xmlns:a16="http://schemas.microsoft.com/office/drawing/2014/main" id="{3A7FE745-B9EB-461D-9E7D-F9A1CB23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6197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A5A00"/>
                </a:solidFill>
                <a:latin typeface="Arial"/>
                <a:ea typeface="Arial"/>
                <a:cs typeface="Arial"/>
              </a:rPr>
              <a:t>CORS · lista blanca</a:t>
            </a:r>
          </a:p>
        </p:txBody>
      </p:sp>
      <p:sp>
        <p:nvSpPr>
          <p:cNvPr id="18" name="source-10">
            <a:extLst xmlns:a="http://schemas.openxmlformats.org/drawingml/2006/main">
              <a:ext uri="{FF2B5EF4-FFF2-40B4-BE49-F238E27FC236}">
                <a16:creationId xmlns:a16="http://schemas.microsoft.com/office/drawing/2014/main" id="{A0E00239-CE0B-4F91-B11A-EC95AC26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Referencia: RFC 7519 para JWT; OWASP (2026) para almacenamiento de contraseñas.</a:t>
            </a:r>
          </a:p>
        </p:txBody>
      </p:sp>
    </p:spTree>
    <p:extLst>
      <p:ext uri="{BB962C8B-B14F-4D97-AF65-F5344CB8AC3E}">
        <p14:creationId xmlns:p14="http://schemas.microsoft.com/office/powerpoint/2010/main" val="10833696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11">
            <a:extLst xmlns:a="http://schemas.openxmlformats.org/drawingml/2006/main">
              <a:ext uri="{FF2B5EF4-FFF2-40B4-BE49-F238E27FC236}">
                <a16:creationId xmlns:a16="http://schemas.microsoft.com/office/drawing/2014/main" id="{80DA1679-9776-46BE-A648-4B66AFE3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DVT · PROYECTO FINAL INTEGRADOR</a:t>
            </a:r>
          </a:p>
        </p:txBody>
      </p:sp>
      <p:cxnSp>
        <p:nvCxnSpPr>
          <p:cNvPr id="23" name="top-rule-11"/>
          <p:cNvCxnSpPr/>
          <p:nvPr/>
        </p:nvCxnSpPr>
        <p:spPr>
          <a:xfrm xmlns:a="http://schemas.openxmlformats.org/drawingml/2006/main">
            <a:off x="533400" y="6858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29F0CE87-F8E0-420B-BAAC-5A856E20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title-11">
            <a:extLst xmlns:a="http://schemas.openxmlformats.org/drawingml/2006/main">
              <a:ext uri="{FF2B5EF4-FFF2-40B4-BE49-F238E27FC236}">
                <a16:creationId xmlns:a16="http://schemas.microsoft.com/office/drawing/2014/main" id="{26B0E234-6385-4440-B720-25C6F7B1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 recuperación de acceso es interna y auditable</a:t>
            </a:r>
          </a:p>
        </p:txBody>
      </p:sp>
      <p:sp>
        <p:nvSpPr>
          <p:cNvPr id="5" name="subtitle-11">
            <a:extLst xmlns:a="http://schemas.openxmlformats.org/drawingml/2006/main">
              <a:ext uri="{FF2B5EF4-FFF2-40B4-BE49-F238E27FC236}">
                <a16:creationId xmlns:a16="http://schemas.microsoft.com/office/drawing/2014/main" id="{65FEE4A8-5ACE-450E-BA08-10D36F50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No se simula un correo de contraseña: el administrador valida y asigna una clave temporal.</a:t>
            </a:r>
          </a:p>
        </p:txBody>
      </p:sp>
      <p:sp>
        <p:nvSpPr>
          <p:cNvPr id="6" name="recovery-0-box">
            <a:extLst xmlns:a="http://schemas.openxmlformats.org/drawingml/2006/main">
              <a:ext uri="{FF2B5EF4-FFF2-40B4-BE49-F238E27FC236}">
                <a16:creationId xmlns:a16="http://schemas.microsoft.com/office/drawing/2014/main" id="{EE1BCCA6-7721-4D73-88F6-08FBD996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7" name="recovery-0-number">
            <a:extLst xmlns:a="http://schemas.openxmlformats.org/drawingml/2006/main">
              <a:ext uri="{FF2B5EF4-FFF2-40B4-BE49-F238E27FC236}">
                <a16:creationId xmlns:a16="http://schemas.microsoft.com/office/drawing/2014/main" id="{6D84CF4F-025D-444B-BAD1-D7DB4067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overy-0-detail">
            <a:extLst xmlns:a="http://schemas.openxmlformats.org/drawingml/2006/main">
              <a:ext uri="{FF2B5EF4-FFF2-40B4-BE49-F238E27FC236}">
                <a16:creationId xmlns:a16="http://schemas.microsoft.com/office/drawing/2014/main" id="{89DD740A-0725-43E5-B7CA-244D6D35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184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Solicitud</a:t>
            </a:r>
          </a:p>
        </p:txBody>
      </p:sp>
      <p:sp>
        <p:nvSpPr>
          <p:cNvPr id="9" name="recovery-detail-0">
            <a:extLst xmlns:a="http://schemas.openxmlformats.org/drawingml/2006/main">
              <a:ext uri="{FF2B5EF4-FFF2-40B4-BE49-F238E27FC236}">
                <a16:creationId xmlns:a16="http://schemas.microsoft.com/office/drawing/2014/main" id="{B365B32E-E3CF-47A6-81B0-7EBE67E0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El usuario informa su correo desde el login.</a:t>
            </a:r>
          </a:p>
        </p:txBody>
      </p:sp>
      <p:sp>
        <p:nvSpPr>
          <p:cNvPr id="10" name="recovery-1-box">
            <a:extLst xmlns:a="http://schemas.openxmlformats.org/drawingml/2006/main">
              <a:ext uri="{FF2B5EF4-FFF2-40B4-BE49-F238E27FC236}">
                <a16:creationId xmlns:a16="http://schemas.microsoft.com/office/drawing/2014/main" id="{E0D6933C-CE99-4697-9D3F-3D513088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11" name="recovery-1-number">
            <a:extLst xmlns:a="http://schemas.openxmlformats.org/drawingml/2006/main">
              <a:ext uri="{FF2B5EF4-FFF2-40B4-BE49-F238E27FC236}">
                <a16:creationId xmlns:a16="http://schemas.microsoft.com/office/drawing/2014/main" id="{7B577158-78AB-4072-AE44-B2ADCC83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956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recovery-1-detail">
            <a:extLst xmlns:a="http://schemas.openxmlformats.org/drawingml/2006/main">
              <a:ext uri="{FF2B5EF4-FFF2-40B4-BE49-F238E27FC236}">
                <a16:creationId xmlns:a16="http://schemas.microsoft.com/office/drawing/2014/main" id="{31D504DB-298C-4614-8D52-E8201AA1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90900"/>
            <a:ext cx="184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Registro</a:t>
            </a:r>
          </a:p>
        </p:txBody>
      </p:sp>
      <p:sp>
        <p:nvSpPr>
          <p:cNvPr id="13" name="recovery-detail-1">
            <a:extLst xmlns:a="http://schemas.openxmlformats.org/drawingml/2006/main">
              <a:ext uri="{FF2B5EF4-FFF2-40B4-BE49-F238E27FC236}">
                <a16:creationId xmlns:a16="http://schemas.microsoft.com/office/drawing/2014/main" id="{6F74104F-F2A8-4971-8D47-CA31AFF0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720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Se guarda una solicitud PENDIENTE sin exponer si existe la cuenta.</a:t>
            </a:r>
          </a:p>
        </p:txBody>
      </p:sp>
      <p:sp>
        <p:nvSpPr>
          <p:cNvPr id="14" name="recovery-2-box">
            <a:extLst xmlns:a="http://schemas.openxmlformats.org/drawingml/2006/main">
              <a:ext uri="{FF2B5EF4-FFF2-40B4-BE49-F238E27FC236}">
                <a16:creationId xmlns:a16="http://schemas.microsoft.com/office/drawing/2014/main" id="{6C2E4B4F-DA8A-44C5-AD38-56058398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F1F5F9"/>
            </a:solidFill>
            <a:prstDash val="solid"/>
          </a:ln>
        </p:spPr>
      </p:sp>
      <p:sp>
        <p:nvSpPr>
          <p:cNvPr id="15" name="recovery-2-number">
            <a:extLst xmlns:a="http://schemas.openxmlformats.org/drawingml/2006/main">
              <a:ext uri="{FF2B5EF4-FFF2-40B4-BE49-F238E27FC236}">
                <a16:creationId xmlns:a16="http://schemas.microsoft.com/office/drawing/2014/main" id="{72738591-25EC-45E9-9850-9467A08B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956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recovery-2-detail">
            <a:extLst xmlns:a="http://schemas.openxmlformats.org/drawingml/2006/main">
              <a:ext uri="{FF2B5EF4-FFF2-40B4-BE49-F238E27FC236}">
                <a16:creationId xmlns:a16="http://schemas.microsoft.com/office/drawing/2014/main" id="{2AD0B81E-2975-4B5A-B03F-27CA9F3C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90900"/>
            <a:ext cx="184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Validación</a:t>
            </a:r>
          </a:p>
        </p:txBody>
      </p:sp>
      <p:sp>
        <p:nvSpPr>
          <p:cNvPr id="17" name="recovery-detail-2">
            <a:extLst xmlns:a="http://schemas.openxmlformats.org/drawingml/2006/main">
              <a:ext uri="{FF2B5EF4-FFF2-40B4-BE49-F238E27FC236}">
                <a16:creationId xmlns:a16="http://schemas.microsoft.com/office/drawing/2014/main" id="{3FF0EF8B-E76E-4D8C-A193-EF74D2D7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720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El administrador revisa la identidad y resuelve el pedido.</a:t>
            </a:r>
          </a:p>
        </p:txBody>
      </p:sp>
      <p:sp>
        <p:nvSpPr>
          <p:cNvPr id="18" name="recovery-3-box">
            <a:extLst xmlns:a="http://schemas.openxmlformats.org/drawingml/2006/main">
              <a:ext uri="{FF2B5EF4-FFF2-40B4-BE49-F238E27FC236}">
                <a16:creationId xmlns:a16="http://schemas.microsoft.com/office/drawing/2014/main" id="{93CD3FD4-64D3-445F-A043-E9E5A78C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8605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4E8"/>
          </a:solidFill>
          <a:ln xmlns:a="http://schemas.openxmlformats.org/drawingml/2006/main" w="9525">
            <a:solidFill>
              <a:srgbClr val="DDF4E8"/>
            </a:solidFill>
            <a:prstDash val="solid"/>
          </a:ln>
        </p:spPr>
      </p:sp>
      <p:sp>
        <p:nvSpPr>
          <p:cNvPr id="19" name="recovery-3-number">
            <a:extLst xmlns:a="http://schemas.openxmlformats.org/drawingml/2006/main">
              <a:ext uri="{FF2B5EF4-FFF2-40B4-BE49-F238E27FC236}">
                <a16:creationId xmlns:a16="http://schemas.microsoft.com/office/drawing/2014/main" id="{7851EFF5-23F1-4252-A203-83961FB8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956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recovery-3-detail">
            <a:extLst xmlns:a="http://schemas.openxmlformats.org/drawingml/2006/main">
              <a:ext uri="{FF2B5EF4-FFF2-40B4-BE49-F238E27FC236}">
                <a16:creationId xmlns:a16="http://schemas.microsoft.com/office/drawing/2014/main" id="{CD26D1B2-53F4-4A05-842A-D3E8138D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90900"/>
            <a:ext cx="184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Cambio obligatorio</a:t>
            </a:r>
          </a:p>
        </p:txBody>
      </p:sp>
      <p:sp>
        <p:nvSpPr>
          <p:cNvPr id="21" name="recovery-detail-3">
            <a:extLst xmlns:a="http://schemas.openxmlformats.org/drawingml/2006/main">
              <a:ext uri="{FF2B5EF4-FFF2-40B4-BE49-F238E27FC236}">
                <a16:creationId xmlns:a16="http://schemas.microsoft.com/office/drawing/2014/main" id="{3F3B1D4D-E1E5-4993-BEB6-9F7385DB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720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La clave temporal se hashea y el usuario debe reemplazarla.</a:t>
            </a:r>
          </a:p>
        </p:txBody>
      </p:sp>
    </p:spTree>
    <p:extLst>
      <p:ext uri="{BB962C8B-B14F-4D97-AF65-F5344CB8AC3E}">
        <p14:creationId xmlns:p14="http://schemas.microsoft.com/office/powerpoint/2010/main" val="10137998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12">
            <a:extLst xmlns:a="http://schemas.openxmlformats.org/drawingml/2006/main">
              <a:ext uri="{FF2B5EF4-FFF2-40B4-BE49-F238E27FC236}">
                <a16:creationId xmlns:a16="http://schemas.microsoft.com/office/drawing/2014/main" id="{CCB2059A-1C20-4F5B-98F9-DB223EBE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DVT · PROYECTO FINAL INTEGRADOR</a:t>
            </a:r>
          </a:p>
        </p:txBody>
      </p:sp>
      <p:cxnSp>
        <p:nvCxnSpPr>
          <p:cNvPr id="21" name="top-rule-12"/>
          <p:cNvCxnSpPr/>
          <p:nvPr/>
        </p:nvCxnSpPr>
        <p:spPr>
          <a:xfrm xmlns:a="http://schemas.openxmlformats.org/drawingml/2006/main">
            <a:off x="533400" y="6858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0D2FFB75-2CD6-4251-858E-6FD6E1FB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title-12">
            <a:extLst xmlns:a="http://schemas.openxmlformats.org/drawingml/2006/main">
              <a:ext uri="{FF2B5EF4-FFF2-40B4-BE49-F238E27FC236}">
                <a16:creationId xmlns:a16="http://schemas.microsoft.com/office/drawing/2014/main" id="{14447D50-7AEA-4C0C-BBC8-C5D28E50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El despliegue y la reproducción quedan documentados</a:t>
            </a:r>
          </a:p>
        </p:txBody>
      </p:sp>
      <p:sp>
        <p:nvSpPr>
          <p:cNvPr id="5" name="subtitle-12">
            <a:extLst xmlns:a="http://schemas.openxmlformats.org/drawingml/2006/main">
              <a:ext uri="{FF2B5EF4-FFF2-40B4-BE49-F238E27FC236}">
                <a16:creationId xmlns:a16="http://schemas.microsoft.com/office/drawing/2014/main" id="{D05C2A0A-7570-4C81-A20B-E88AE529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El repositorio, Render y el seed ficticio permiten verificar la solución fuera del equipo de desarrollo.</a:t>
            </a:r>
          </a:p>
        </p:txBody>
      </p:sp>
      <p:sp>
        <p:nvSpPr>
          <p:cNvPr id="6" name="deploy-repo-frame">
            <a:extLst xmlns:a="http://schemas.openxmlformats.org/drawingml/2006/main">
              <a:ext uri="{FF2B5EF4-FFF2-40B4-BE49-F238E27FC236}">
                <a16:creationId xmlns:a16="http://schemas.microsoft.com/office/drawing/2014/main" id="{9913F844-56C5-4822-9273-24D42A91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deploy-repo-accent">
            <a:extLst xmlns:a="http://schemas.openxmlformats.org/drawingml/2006/main">
              <a:ext uri="{FF2B5EF4-FFF2-40B4-BE49-F238E27FC236}">
                <a16:creationId xmlns:a16="http://schemas.microsoft.com/office/drawing/2014/main" id="{6A7DCEDF-6C4C-4003-878F-AEEC225D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8" name="deploy-repo-heading">
            <a:extLst xmlns:a="http://schemas.openxmlformats.org/drawingml/2006/main">
              <a:ext uri="{FF2B5EF4-FFF2-40B4-BE49-F238E27FC236}">
                <a16:creationId xmlns:a16="http://schemas.microsoft.com/office/drawing/2014/main" id="{7897EB8E-3CFD-4BA5-85F6-E376D507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9" name="deploy-repo-body">
            <a:extLst xmlns:a="http://schemas.openxmlformats.org/drawingml/2006/main">
              <a:ext uri="{FF2B5EF4-FFF2-40B4-BE49-F238E27FC236}">
                <a16:creationId xmlns:a16="http://schemas.microsoft.com/office/drawing/2014/main" id="{82A3185B-5E7B-4BE6-B2C5-31A0B7BE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2781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El código, render.yaml, README y los datos ficticios se versionan sin secretos.</a:t>
            </a:r>
          </a:p>
        </p:txBody>
      </p:sp>
      <p:sp>
        <p:nvSpPr>
          <p:cNvPr id="10" name="deploy-render-frame">
            <a:extLst xmlns:a="http://schemas.openxmlformats.org/drawingml/2006/main">
              <a:ext uri="{FF2B5EF4-FFF2-40B4-BE49-F238E27FC236}">
                <a16:creationId xmlns:a16="http://schemas.microsoft.com/office/drawing/2014/main" id="{F7281643-67C0-4E56-9270-24FD42F4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5270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deploy-render-accent">
            <a:extLst xmlns:a="http://schemas.openxmlformats.org/drawingml/2006/main">
              <a:ext uri="{FF2B5EF4-FFF2-40B4-BE49-F238E27FC236}">
                <a16:creationId xmlns:a16="http://schemas.microsoft.com/office/drawing/2014/main" id="{DDC1647E-25E2-47C7-807C-15C63518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527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deploy-render-heading">
            <a:extLst xmlns:a="http://schemas.openxmlformats.org/drawingml/2006/main">
              <a:ext uri="{FF2B5EF4-FFF2-40B4-BE49-F238E27FC236}">
                <a16:creationId xmlns:a16="http://schemas.microsoft.com/office/drawing/2014/main" id="{2FF6A885-F4C9-4ED5-B322-334A8179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003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Render</a:t>
            </a:r>
          </a:p>
        </p:txBody>
      </p:sp>
      <p:sp>
        <p:nvSpPr>
          <p:cNvPr id="13" name="deploy-render-body">
            <a:extLst xmlns:a="http://schemas.openxmlformats.org/drawingml/2006/main">
              <a:ext uri="{FF2B5EF4-FFF2-40B4-BE49-F238E27FC236}">
                <a16:creationId xmlns:a16="http://schemas.microsoft.com/office/drawing/2014/main" id="{7373836B-8FAA-4115-8173-952D2A9C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95650"/>
            <a:ext cx="2781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Web Service: build de Vue, inicio de Express y health check en /api/health.</a:t>
            </a:r>
          </a:p>
        </p:txBody>
      </p:sp>
      <p:sp>
        <p:nvSpPr>
          <p:cNvPr id="14" name="deploy-seed-frame">
            <a:extLst xmlns:a="http://schemas.openxmlformats.org/drawingml/2006/main">
              <a:ext uri="{FF2B5EF4-FFF2-40B4-BE49-F238E27FC236}">
                <a16:creationId xmlns:a16="http://schemas.microsoft.com/office/drawing/2014/main" id="{B77B4750-D89F-4244-8BAE-B1D7AECF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5270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deploy-seed-accent">
            <a:extLst xmlns:a="http://schemas.openxmlformats.org/drawingml/2006/main">
              <a:ext uri="{FF2B5EF4-FFF2-40B4-BE49-F238E27FC236}">
                <a16:creationId xmlns:a16="http://schemas.microsoft.com/office/drawing/2014/main" id="{C41910BF-235E-4534-8369-3E34E103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527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6" name="deploy-seed-heading">
            <a:extLst xmlns:a="http://schemas.openxmlformats.org/drawingml/2006/main">
              <a:ext uri="{FF2B5EF4-FFF2-40B4-BE49-F238E27FC236}">
                <a16:creationId xmlns:a16="http://schemas.microsoft.com/office/drawing/2014/main" id="{25E2B5D4-2DAD-4D55-BFD9-719EADEF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003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Firestore seed</a:t>
            </a:r>
          </a:p>
        </p:txBody>
      </p:sp>
      <p:sp>
        <p:nvSpPr>
          <p:cNvPr id="17" name="deploy-seed-body">
            <a:extLst xmlns:a="http://schemas.openxmlformats.org/drawingml/2006/main">
              <a:ext uri="{FF2B5EF4-FFF2-40B4-BE49-F238E27FC236}">
                <a16:creationId xmlns:a16="http://schemas.microsoft.com/office/drawing/2014/main" id="{3745162F-683F-4ADE-9562-BDFB6FBE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95650"/>
            <a:ext cx="2781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El script requiere --apply, crea sólo demo-* y no borra ni sobrescribe datos.</a:t>
            </a:r>
          </a:p>
        </p:txBody>
      </p:sp>
      <p:sp>
        <p:nvSpPr>
          <p:cNvPr id="18" name="deploy-url">
            <a:extLst xmlns:a="http://schemas.openxmlformats.org/drawingml/2006/main">
              <a:ext uri="{FF2B5EF4-FFF2-40B4-BE49-F238E27FC236}">
                <a16:creationId xmlns:a16="http://schemas.microsoft.com/office/drawing/2014/main" id="{AC570785-1748-4CFA-BC79-FE05F2C4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URL pública: gestionhotelera-dm5p.onrender.com</a:t>
            </a:r>
          </a:p>
        </p:txBody>
      </p:sp>
      <p:sp>
        <p:nvSpPr>
          <p:cNvPr id="19" name="source-12">
            <a:extLst xmlns:a="http://schemas.openxmlformats.org/drawingml/2006/main">
              <a:ext uri="{FF2B5EF4-FFF2-40B4-BE49-F238E27FC236}">
                <a16:creationId xmlns:a16="http://schemas.microsoft.com/office/drawing/2014/main" id="{18B1014D-9B50-4CAD-9216-33AD2CD4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Render (2026): las instancias gratuitas pueden reanudarse al recibir una nueva solicitud.</a:t>
            </a:r>
          </a:p>
        </p:txBody>
      </p:sp>
    </p:spTree>
    <p:extLst>
      <p:ext uri="{BB962C8B-B14F-4D97-AF65-F5344CB8AC3E}">
        <p14:creationId xmlns:p14="http://schemas.microsoft.com/office/powerpoint/2010/main" val="7728767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13">
            <a:extLst xmlns:a="http://schemas.openxmlformats.org/drawingml/2006/main">
              <a:ext uri="{FF2B5EF4-FFF2-40B4-BE49-F238E27FC236}">
                <a16:creationId xmlns:a16="http://schemas.microsoft.com/office/drawing/2014/main" id="{01BB2EDE-929F-4EE4-BA2D-E6C7075F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DVT · PROYECTO FINAL INTEGRADOR</a:t>
            </a:r>
          </a:p>
        </p:txBody>
      </p:sp>
      <p:cxnSp>
        <p:nvCxnSpPr>
          <p:cNvPr id="20" name="top-rule-13"/>
          <p:cNvCxnSpPr/>
          <p:nvPr/>
        </p:nvCxnSpPr>
        <p:spPr>
          <a:xfrm xmlns:a="http://schemas.openxmlformats.org/drawingml/2006/main">
            <a:off x="533400" y="6858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EB8C2511-E07E-4AA8-8FDE-271F8853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title-13">
            <a:extLst xmlns:a="http://schemas.openxmlformats.org/drawingml/2006/main">
              <a:ext uri="{FF2B5EF4-FFF2-40B4-BE49-F238E27FC236}">
                <a16:creationId xmlns:a16="http://schemas.microsoft.com/office/drawing/2014/main" id="{C4BF4398-85F6-4F88-BBEB-5CB41428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 calidad se verifica por flujo, código y disponibilidad</a:t>
            </a:r>
          </a:p>
        </p:txBody>
      </p:sp>
      <p:sp>
        <p:nvSpPr>
          <p:cNvPr id="5" name="subtitle-13">
            <a:extLst xmlns:a="http://schemas.openxmlformats.org/drawingml/2006/main">
              <a:ext uri="{FF2B5EF4-FFF2-40B4-BE49-F238E27FC236}">
                <a16:creationId xmlns:a16="http://schemas.microsoft.com/office/drawing/2014/main" id="{D13D748D-D35C-4689-99AC-D1671B65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La evidencia combina controles automáticos, pruebas de integración y chequeo del despliegue.</a:t>
            </a:r>
          </a:p>
        </p:txBody>
      </p:sp>
      <p:sp>
        <p:nvSpPr>
          <p:cNvPr id="6" name="check-row-0">
            <a:extLst xmlns:a="http://schemas.openxmlformats.org/drawingml/2006/main">
              <a:ext uri="{FF2B5EF4-FFF2-40B4-BE49-F238E27FC236}">
                <a16:creationId xmlns:a16="http://schemas.microsoft.com/office/drawing/2014/main" id="{D7746530-788E-4264-B390-2E54BE76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check-title-0">
            <a:extLst xmlns:a="http://schemas.openxmlformats.org/drawingml/2006/main">
              <a:ext uri="{FF2B5EF4-FFF2-40B4-BE49-F238E27FC236}">
                <a16:creationId xmlns:a16="http://schemas.microsoft.com/office/drawing/2014/main" id="{7DC55D0B-DDC2-4D28-9FE9-22E2AA49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Código</a:t>
            </a:r>
          </a:p>
        </p:txBody>
      </p:sp>
      <p:sp>
        <p:nvSpPr>
          <p:cNvPr id="8" name="check-body-0">
            <a:extLst xmlns:a="http://schemas.openxmlformats.org/drawingml/2006/main">
              <a:ext uri="{FF2B5EF4-FFF2-40B4-BE49-F238E27FC236}">
                <a16:creationId xmlns:a16="http://schemas.microsoft.com/office/drawing/2014/main" id="{AC461FEC-3FBA-48CA-BA3C-19E5388E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24125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ESLint y build de Vite finalizan sin errores.</a:t>
            </a:r>
          </a:p>
        </p:txBody>
      </p:sp>
      <p:sp>
        <p:nvSpPr>
          <p:cNvPr id="9" name="check-row-1">
            <a:extLst xmlns:a="http://schemas.openxmlformats.org/drawingml/2006/main">
              <a:ext uri="{FF2B5EF4-FFF2-40B4-BE49-F238E27FC236}">
                <a16:creationId xmlns:a16="http://schemas.microsoft.com/office/drawing/2014/main" id="{5BB313FE-F705-412D-A653-AA9C4AD6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check-title-1">
            <a:extLst xmlns:a="http://schemas.openxmlformats.org/drawingml/2006/main">
              <a:ext uri="{FF2B5EF4-FFF2-40B4-BE49-F238E27FC236}">
                <a16:creationId xmlns:a16="http://schemas.microsoft.com/office/drawing/2014/main" id="{1CC30859-E719-4A71-A1F5-3D482E84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051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Seguridad</a:t>
            </a:r>
          </a:p>
        </p:txBody>
      </p:sp>
      <p:sp>
        <p:nvSpPr>
          <p:cNvPr id="11" name="check-body-1">
            <a:extLst xmlns:a="http://schemas.openxmlformats.org/drawingml/2006/main">
              <a:ext uri="{FF2B5EF4-FFF2-40B4-BE49-F238E27FC236}">
                <a16:creationId xmlns:a16="http://schemas.microsoft.com/office/drawing/2014/main" id="{10F9DCF2-F8EA-4E9B-82E9-840CBE6E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05175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Rutas privadas sin token responden 401.</a:t>
            </a:r>
          </a:p>
        </p:txBody>
      </p:sp>
      <p:sp>
        <p:nvSpPr>
          <p:cNvPr id="12" name="check-row-2">
            <a:extLst xmlns:a="http://schemas.openxmlformats.org/drawingml/2006/main">
              <a:ext uri="{FF2B5EF4-FFF2-40B4-BE49-F238E27FC236}">
                <a16:creationId xmlns:a16="http://schemas.microsoft.com/office/drawing/2014/main" id="{0CFB6B4C-57DC-4EF0-9162-9BE51606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check-title-2">
            <a:extLst xmlns:a="http://schemas.openxmlformats.org/drawingml/2006/main">
              <a:ext uri="{FF2B5EF4-FFF2-40B4-BE49-F238E27FC236}">
                <a16:creationId xmlns:a16="http://schemas.microsoft.com/office/drawing/2014/main" id="{50814483-8C60-462F-AEDF-B19830D1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Negocio</a:t>
            </a:r>
          </a:p>
        </p:txBody>
      </p:sp>
      <p:sp>
        <p:nvSpPr>
          <p:cNvPr id="14" name="check-body-2">
            <a:extLst xmlns:a="http://schemas.openxmlformats.org/drawingml/2006/main">
              <a:ext uri="{FF2B5EF4-FFF2-40B4-BE49-F238E27FC236}">
                <a16:creationId xmlns:a16="http://schemas.microsoft.com/office/drawing/2014/main" id="{BEAFF919-F811-4037-9092-F9035492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86225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Reservas, consumos, cuenta y pagos siguen estados definidos.</a:t>
            </a:r>
          </a:p>
        </p:txBody>
      </p:sp>
      <p:sp>
        <p:nvSpPr>
          <p:cNvPr id="15" name="check-row-3">
            <a:extLst xmlns:a="http://schemas.openxmlformats.org/drawingml/2006/main">
              <a:ext uri="{FF2B5EF4-FFF2-40B4-BE49-F238E27FC236}">
                <a16:creationId xmlns:a16="http://schemas.microsoft.com/office/drawing/2014/main" id="{2887490F-CC4F-4284-958A-6005EFEB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440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check-title-3">
            <a:extLst xmlns:a="http://schemas.openxmlformats.org/drawingml/2006/main">
              <a:ext uri="{FF2B5EF4-FFF2-40B4-BE49-F238E27FC236}">
                <a16:creationId xmlns:a16="http://schemas.microsoft.com/office/drawing/2014/main" id="{1BC0460C-4DC0-4F10-944E-82AF1835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672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Producción</a:t>
            </a:r>
          </a:p>
        </p:txBody>
      </p:sp>
      <p:sp>
        <p:nvSpPr>
          <p:cNvPr id="17" name="check-body-3">
            <a:extLst xmlns:a="http://schemas.openxmlformats.org/drawingml/2006/main">
              <a:ext uri="{FF2B5EF4-FFF2-40B4-BE49-F238E27FC236}">
                <a16:creationId xmlns:a16="http://schemas.microsoft.com/office/drawing/2014/main" id="{BB7E1974-7F42-484C-97CA-97CF6E93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67275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Landing, /app/login y /api/health se revisan antes de exponer.</a:t>
            </a:r>
          </a:p>
        </p:txBody>
      </p:sp>
      <p:sp>
        <p:nvSpPr>
          <p:cNvPr id="18" name="check-close">
            <a:extLst xmlns:a="http://schemas.openxmlformats.org/drawingml/2006/main">
              <a:ext uri="{FF2B5EF4-FFF2-40B4-BE49-F238E27FC236}">
                <a16:creationId xmlns:a16="http://schemas.microsoft.com/office/drawing/2014/main" id="{ADC447C4-36F8-4AE2-A558-71E4035A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La demostración final repite estos flujos con datos ficticios y una lista de verificación.</a:t>
            </a:r>
          </a:p>
        </p:txBody>
      </p:sp>
    </p:spTree>
    <p:extLst>
      <p:ext uri="{BB962C8B-B14F-4D97-AF65-F5344CB8AC3E}">
        <p14:creationId xmlns:p14="http://schemas.microsoft.com/office/powerpoint/2010/main" val="17996505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14">
            <a:extLst xmlns:a="http://schemas.openxmlformats.org/drawingml/2006/main">
              <a:ext uri="{FF2B5EF4-FFF2-40B4-BE49-F238E27FC236}">
                <a16:creationId xmlns:a16="http://schemas.microsoft.com/office/drawing/2014/main" id="{4764E3BD-01F7-4DCF-BD6D-1D7B32C5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DVT · PROYECTO FINAL INTEGRADOR</a:t>
            </a:r>
          </a:p>
        </p:txBody>
      </p:sp>
      <p:cxnSp>
        <p:nvCxnSpPr>
          <p:cNvPr id="16" name="top-rule-14"/>
          <p:cNvCxnSpPr/>
          <p:nvPr/>
        </p:nvCxnSpPr>
        <p:spPr>
          <a:xfrm xmlns:a="http://schemas.openxmlformats.org/drawingml/2006/main">
            <a:off x="533400" y="6858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page-14">
            <a:extLst xmlns:a="http://schemas.openxmlformats.org/drawingml/2006/main">
              <a:ext uri="{FF2B5EF4-FFF2-40B4-BE49-F238E27FC236}">
                <a16:creationId xmlns:a16="http://schemas.microsoft.com/office/drawing/2014/main" id="{146C312B-DD4E-40AD-8974-00A9A92C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title-14">
            <a:extLst xmlns:a="http://schemas.openxmlformats.org/drawingml/2006/main">
              <a:ext uri="{FF2B5EF4-FFF2-40B4-BE49-F238E27FC236}">
                <a16:creationId xmlns:a16="http://schemas.microsoft.com/office/drawing/2014/main" id="{20483DB8-52D6-4AB0-9764-36D919CD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El resultado es funcional y deja límites explícitos</a:t>
            </a:r>
          </a:p>
        </p:txBody>
      </p:sp>
      <p:sp>
        <p:nvSpPr>
          <p:cNvPr id="5" name="subtitle-14">
            <a:extLst xmlns:a="http://schemas.openxmlformats.org/drawingml/2006/main">
              <a:ext uri="{FF2B5EF4-FFF2-40B4-BE49-F238E27FC236}">
                <a16:creationId xmlns:a16="http://schemas.microsoft.com/office/drawing/2014/main" id="{3B0F7D90-90E0-492B-A8A3-E56026F1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La tesis diferencia lo implementado hoy de las extensiones necesarias para una operación comercial completa.</a:t>
            </a:r>
          </a:p>
        </p:txBody>
      </p:sp>
      <p:sp>
        <p:nvSpPr>
          <p:cNvPr id="6" name="result-left-frame">
            <a:extLst xmlns:a="http://schemas.openxmlformats.org/drawingml/2006/main">
              <a:ext uri="{FF2B5EF4-FFF2-40B4-BE49-F238E27FC236}">
                <a16:creationId xmlns:a16="http://schemas.microsoft.com/office/drawing/2014/main" id="{2F6E9E11-1EC0-415E-A3B1-9ACD0653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495300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result-left-accent">
            <a:extLst xmlns:a="http://schemas.openxmlformats.org/drawingml/2006/main">
              <a:ext uri="{FF2B5EF4-FFF2-40B4-BE49-F238E27FC236}">
                <a16:creationId xmlns:a16="http://schemas.microsoft.com/office/drawing/2014/main" id="{9132ECF5-8AA7-49AC-A793-08FEB85F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666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result-left-heading">
            <a:extLst xmlns:a="http://schemas.openxmlformats.org/drawingml/2006/main">
              <a:ext uri="{FF2B5EF4-FFF2-40B4-BE49-F238E27FC236}">
                <a16:creationId xmlns:a16="http://schemas.microsoft.com/office/drawing/2014/main" id="{27A82C95-CBD1-4A0A-83B9-807C5CAF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Implementado</a:t>
            </a:r>
          </a:p>
        </p:txBody>
      </p:sp>
      <p:sp>
        <p:nvSpPr>
          <p:cNvPr id="9" name="result-left-body">
            <a:extLst xmlns:a="http://schemas.openxmlformats.org/drawingml/2006/main">
              <a:ext uri="{FF2B5EF4-FFF2-40B4-BE49-F238E27FC236}">
                <a16:creationId xmlns:a16="http://schemas.microsoft.com/office/drawing/2014/main" id="{1967F3B9-0AF7-4B88-9ED8-74181E1F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44958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Aplicación interna, roles, reservas, consumos, pagos, clave temporal, Render, README y seed ficticio.</a:t>
            </a:r>
          </a:p>
        </p:txBody>
      </p:sp>
      <p:sp>
        <p:nvSpPr>
          <p:cNvPr id="10" name="result-right-frame">
            <a:extLst xmlns:a="http://schemas.openxmlformats.org/drawingml/2006/main">
              <a:ext uri="{FF2B5EF4-FFF2-40B4-BE49-F238E27FC236}">
                <a16:creationId xmlns:a16="http://schemas.microsoft.com/office/drawing/2014/main" id="{76DE3A16-21F3-4149-B479-BCD13AF4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95300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result-right-accent">
            <a:extLst xmlns:a="http://schemas.openxmlformats.org/drawingml/2006/main">
              <a:ext uri="{FF2B5EF4-FFF2-40B4-BE49-F238E27FC236}">
                <a16:creationId xmlns:a16="http://schemas.microsoft.com/office/drawing/2014/main" id="{95FF0527-9E56-4A82-900C-6F7F84BF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666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2" name="result-right-heading">
            <a:extLst xmlns:a="http://schemas.openxmlformats.org/drawingml/2006/main">
              <a:ext uri="{FF2B5EF4-FFF2-40B4-BE49-F238E27FC236}">
                <a16:creationId xmlns:a16="http://schemas.microsoft.com/office/drawing/2014/main" id="{563C851D-FDB6-49ED-BC8D-C7ABEE4F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Evolución futura</a:t>
            </a:r>
          </a:p>
        </p:txBody>
      </p:sp>
      <p:sp>
        <p:nvSpPr>
          <p:cNvPr id="13" name="result-right-body">
            <a:extLst xmlns:a="http://schemas.openxmlformats.org/drawingml/2006/main">
              <a:ext uri="{FF2B5EF4-FFF2-40B4-BE49-F238E27FC236}">
                <a16:creationId xmlns:a16="http://schemas.microsoft.com/office/drawing/2014/main" id="{9681DB3B-D12A-4959-86DE-6035E4E5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76600"/>
            <a:ext cx="44958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MFA, rate limiting, facturación fiscal, pasarela de pago, reportes, auditoría ampliada y pruebas automatizadas.</a:t>
            </a:r>
          </a:p>
        </p:txBody>
      </p:sp>
      <p:sp>
        <p:nvSpPr>
          <p:cNvPr id="14" name="result-close">
            <a:extLst xmlns:a="http://schemas.openxmlformats.org/drawingml/2006/main">
              <a:ext uri="{FF2B5EF4-FFF2-40B4-BE49-F238E27FC236}">
                <a16:creationId xmlns:a16="http://schemas.microsoft.com/office/drawing/2014/main" id="{25B4A357-724A-4E3D-993A-80BDF3E8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Explicitar límites fortalece la defensa: demuestra criterio técnico y evita afirmar integraciones inexistentes.</a:t>
            </a:r>
          </a:p>
        </p:txBody>
      </p:sp>
    </p:spTree>
    <p:extLst>
      <p:ext uri="{BB962C8B-B14F-4D97-AF65-F5344CB8AC3E}">
        <p14:creationId xmlns:p14="http://schemas.microsoft.com/office/powerpoint/2010/main" val="10491501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15">
            <a:extLst xmlns:a="http://schemas.openxmlformats.org/drawingml/2006/main">
              <a:ext uri="{FF2B5EF4-FFF2-40B4-BE49-F238E27FC236}">
                <a16:creationId xmlns:a16="http://schemas.microsoft.com/office/drawing/2014/main" id="{DB3FCC9F-9184-4A37-8218-5D7AD008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DVT · CIERRE</a:t>
            </a:r>
          </a:p>
        </p:txBody>
      </p:sp>
      <p:cxnSp>
        <p:nvCxnSpPr>
          <p:cNvPr id="10" name="top-rule-15"/>
          <p:cNvCxnSpPr/>
          <p:nvPr/>
        </p:nvCxnSpPr>
        <p:spPr>
          <a:xfrm xmlns:a="http://schemas.openxmlformats.org/drawingml/2006/main">
            <a:off x="533400" y="6858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3" name="page-15">
            <a:extLst xmlns:a="http://schemas.openxmlformats.org/drawingml/2006/main">
              <a:ext uri="{FF2B5EF4-FFF2-40B4-BE49-F238E27FC236}">
                <a16:creationId xmlns:a16="http://schemas.microsoft.com/office/drawing/2014/main" id="{6F254F9A-4F87-4725-BFC6-F5C20C89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final-title">
            <a:extLst xmlns:a="http://schemas.openxmlformats.org/drawingml/2006/main">
              <a:ext uri="{FF2B5EF4-FFF2-40B4-BE49-F238E27FC236}">
                <a16:creationId xmlns:a16="http://schemas.microsoft.com/office/drawing/2014/main" id="{3285C52C-D031-4141-A41E-F7767AEB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525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DVT transforma tareas dispersas</a:t>
            </a:r>
          </a:p>
          <a:p xmlns:a="http://schemas.openxmlformats.org/drawingml/2006/main">
            <a:pPr algn="l">
              <a:defRPr sz="3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en una operación trazable</a:t>
            </a:r>
          </a:p>
        </p:txBody>
      </p:sp>
      <p:sp>
        <p:nvSpPr>
          <p:cNvPr id="5" name="final-body">
            <a:extLst xmlns:a="http://schemas.openxmlformats.org/drawingml/2006/main">
              <a:ext uri="{FF2B5EF4-FFF2-40B4-BE49-F238E27FC236}">
                <a16:creationId xmlns:a16="http://schemas.microsoft.com/office/drawing/2014/main" id="{505F5299-13CD-42E9-BA1B-DAF38068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La solución integra recepción, reglas de negocio, seguridad, despliegue y documentación reproducible en un mismo proyecto académico.</a:t>
            </a:r>
          </a:p>
        </p:txBody>
      </p:sp>
      <p:cxnSp>
        <p:nvCxnSpPr>
          <p:cNvPr id="14" name="final-rule"/>
          <p:cNvCxnSpPr/>
          <p:nvPr/>
        </p:nvCxnSpPr>
        <p:spPr>
          <a:xfrm xmlns:a="http://schemas.openxmlformats.org/drawingml/2006/main">
            <a:off x="533400" y="4591050"/>
            <a:ext cx="7067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4C81"/>
            </a:solidFill>
            <a:prstDash val="solid"/>
          </a:ln>
        </p:spPr>
      </p:cxnSp>
      <p:sp>
        <p:nvSpPr>
          <p:cNvPr id="7" name="final-points">
            <a:extLst xmlns:a="http://schemas.openxmlformats.org/drawingml/2006/main">
              <a:ext uri="{FF2B5EF4-FFF2-40B4-BE49-F238E27FC236}">
                <a16:creationId xmlns:a16="http://schemas.microsoft.com/office/drawing/2014/main" id="{0AD84D98-5058-4FAB-B768-9291EB20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4953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4C81"/>
                </a:solidFill>
                <a:latin typeface="Arial"/>
                <a:ea typeface="Arial"/>
                <a:cs typeface="Arial"/>
              </a:rPr>
              <a:t>• Operación centralizada</a:t>
            </a:r>
          </a:p>
          <a:p xmlns:a="http://schemas.openxmlformats.org/drawingml/2006/main">
            <a:pPr algn="l">
              <a:defRPr sz="1500" b="0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4C81"/>
                </a:solidFill>
                <a:latin typeface="Arial"/>
                <a:ea typeface="Arial"/>
                <a:cs typeface="Arial"/>
              </a:rPr>
              <a:t>• Roles y trazabilidad</a:t>
            </a:r>
          </a:p>
          <a:p xmlns:a="http://schemas.openxmlformats.org/drawingml/2006/main">
            <a:pPr algn="l">
              <a:defRPr sz="1500" b="0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4C81"/>
                </a:solidFill>
                <a:latin typeface="Arial"/>
                <a:ea typeface="Arial"/>
                <a:cs typeface="Arial"/>
              </a:rPr>
              <a:t>• Deploy verificable</a:t>
            </a:r>
          </a:p>
          <a:p xmlns:a="http://schemas.openxmlformats.org/drawingml/2006/main">
            <a:pPr algn="l">
              <a:defRPr sz="1500" b="0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4C81"/>
                </a:solidFill>
                <a:latin typeface="Arial"/>
                <a:ea typeface="Arial"/>
                <a:cs typeface="Arial"/>
              </a:rPr>
              <a:t>• Base de demostración reproducible</a:t>
            </a:r>
          </a:p>
        </p:txBody>
      </p:sp>
      <p:sp>
        <p:nvSpPr>
          <p:cNvPr id="8" name="final-url">
            <a:extLst xmlns:a="http://schemas.openxmlformats.org/drawingml/2006/main">
              <a:ext uri="{FF2B5EF4-FFF2-40B4-BE49-F238E27FC236}">
                <a16:creationId xmlns:a16="http://schemas.microsoft.com/office/drawing/2014/main" id="{2EB3F570-1848-41E7-9EAE-33F0832B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95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gestionhotelera-dm5p.onrender.com</a:t>
            </a:r>
          </a:p>
        </p:txBody>
      </p:sp>
    </p:spTree>
    <p:extLst>
      <p:ext uri="{BB962C8B-B14F-4D97-AF65-F5344CB8AC3E}">
        <p14:creationId xmlns:p14="http://schemas.microsoft.com/office/powerpoint/2010/main" val="14234104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2026-07-21T04:37:30.3980000Z</dcterms:created>
  <dcterms:modified xsi:type="dcterms:W3CDTF">2026-07-21T04:37:30.3980000Z</dcterms:modified>
</coreProperties>
</file>